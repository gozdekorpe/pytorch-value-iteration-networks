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1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577" autoAdjust="0"/>
  </p:normalViewPr>
  <p:slideViewPr>
    <p:cSldViewPr snapToGrid="0">
      <p:cViewPr varScale="1">
        <p:scale>
          <a:sx n="69" d="100"/>
          <a:sy n="69" d="100"/>
        </p:scale>
        <p:origin x="12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1321F4-3159-48D9-B48A-8602235903C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25F2EE9-C538-4262-97A1-BC82846EE54F}">
      <dgm:prSet/>
      <dgm:spPr/>
      <dgm:t>
        <a:bodyPr/>
        <a:lstStyle/>
        <a:p>
          <a:r>
            <a:rPr lang="tr-TR"/>
            <a:t>Selected Paper</a:t>
          </a:r>
          <a:endParaRPr lang="en-US"/>
        </a:p>
      </dgm:t>
    </dgm:pt>
    <dgm:pt modelId="{C89B8C9E-F8BC-4B6A-8554-1347F71A4013}" type="parTrans" cxnId="{31D1AD14-4255-47D2-96D3-6C1977CFA6D7}">
      <dgm:prSet/>
      <dgm:spPr/>
      <dgm:t>
        <a:bodyPr/>
        <a:lstStyle/>
        <a:p>
          <a:endParaRPr lang="en-US"/>
        </a:p>
      </dgm:t>
    </dgm:pt>
    <dgm:pt modelId="{1E918379-D868-40AB-86A2-D85ED7C50363}" type="sibTrans" cxnId="{31D1AD14-4255-47D2-96D3-6C1977CFA6D7}">
      <dgm:prSet/>
      <dgm:spPr/>
      <dgm:t>
        <a:bodyPr/>
        <a:lstStyle/>
        <a:p>
          <a:endParaRPr lang="en-US"/>
        </a:p>
      </dgm:t>
    </dgm:pt>
    <dgm:pt modelId="{1814485E-252E-4162-A4FA-625DC3984780}">
      <dgm:prSet/>
      <dgm:spPr/>
      <dgm:t>
        <a:bodyPr/>
        <a:lstStyle/>
        <a:p>
          <a:r>
            <a:rPr lang="tr-TR"/>
            <a:t>Core Contribution – Relevance</a:t>
          </a:r>
          <a:endParaRPr lang="en-US"/>
        </a:p>
      </dgm:t>
    </dgm:pt>
    <dgm:pt modelId="{36B78D1C-6289-4398-A070-05280BB53B64}" type="parTrans" cxnId="{69E7BD45-4B2A-4742-8E76-46716D3918AF}">
      <dgm:prSet/>
      <dgm:spPr/>
      <dgm:t>
        <a:bodyPr/>
        <a:lstStyle/>
        <a:p>
          <a:endParaRPr lang="en-US"/>
        </a:p>
      </dgm:t>
    </dgm:pt>
    <dgm:pt modelId="{F195499C-C228-4A32-899E-538A70C6F571}" type="sibTrans" cxnId="{69E7BD45-4B2A-4742-8E76-46716D3918AF}">
      <dgm:prSet/>
      <dgm:spPr/>
      <dgm:t>
        <a:bodyPr/>
        <a:lstStyle/>
        <a:p>
          <a:endParaRPr lang="en-US"/>
        </a:p>
      </dgm:t>
    </dgm:pt>
    <dgm:pt modelId="{5948AE75-D7E0-4033-AE64-880C64AD7231}">
      <dgm:prSet/>
      <dgm:spPr/>
      <dgm:t>
        <a:bodyPr/>
        <a:lstStyle/>
        <a:p>
          <a:r>
            <a:rPr lang="tr-TR"/>
            <a:t>Related Work</a:t>
          </a:r>
          <a:endParaRPr lang="en-US"/>
        </a:p>
      </dgm:t>
    </dgm:pt>
    <dgm:pt modelId="{CEA5661D-361B-4BD3-8468-2BCF8D3C4F93}" type="parTrans" cxnId="{42FE4F0B-37A8-4062-886A-833939FF05FD}">
      <dgm:prSet/>
      <dgm:spPr/>
      <dgm:t>
        <a:bodyPr/>
        <a:lstStyle/>
        <a:p>
          <a:endParaRPr lang="en-US"/>
        </a:p>
      </dgm:t>
    </dgm:pt>
    <dgm:pt modelId="{9E5D8051-2CC8-459C-9911-A52ADDE747DC}" type="sibTrans" cxnId="{42FE4F0B-37A8-4062-886A-833939FF05FD}">
      <dgm:prSet/>
      <dgm:spPr/>
      <dgm:t>
        <a:bodyPr/>
        <a:lstStyle/>
        <a:p>
          <a:endParaRPr lang="en-US"/>
        </a:p>
      </dgm:t>
    </dgm:pt>
    <dgm:pt modelId="{1C4E7A82-12C5-41C7-849A-C60F24528381}">
      <dgm:prSet/>
      <dgm:spPr/>
      <dgm:t>
        <a:bodyPr/>
        <a:lstStyle/>
        <a:p>
          <a:r>
            <a:rPr lang="tr-TR"/>
            <a:t>Project Direction</a:t>
          </a:r>
          <a:endParaRPr lang="en-US"/>
        </a:p>
      </dgm:t>
    </dgm:pt>
    <dgm:pt modelId="{FD2D5E8A-9CCC-4189-961F-78B412048DE7}" type="parTrans" cxnId="{E3B4DEB1-BBF4-4C57-9B6F-7AB08BEB1990}">
      <dgm:prSet/>
      <dgm:spPr/>
      <dgm:t>
        <a:bodyPr/>
        <a:lstStyle/>
        <a:p>
          <a:endParaRPr lang="en-US"/>
        </a:p>
      </dgm:t>
    </dgm:pt>
    <dgm:pt modelId="{5E228136-6CE3-4644-A4C5-8E62ED0B6D92}" type="sibTrans" cxnId="{E3B4DEB1-BBF4-4C57-9B6F-7AB08BEB1990}">
      <dgm:prSet/>
      <dgm:spPr/>
      <dgm:t>
        <a:bodyPr/>
        <a:lstStyle/>
        <a:p>
          <a:endParaRPr lang="en-US"/>
        </a:p>
      </dgm:t>
    </dgm:pt>
    <dgm:pt modelId="{676FD264-5561-49DA-9A11-A7C4734A0846}">
      <dgm:prSet/>
      <dgm:spPr/>
      <dgm:t>
        <a:bodyPr/>
        <a:lstStyle/>
        <a:p>
          <a:r>
            <a:rPr lang="tr-TR"/>
            <a:t>Reproduction Plan</a:t>
          </a:r>
          <a:endParaRPr lang="en-US"/>
        </a:p>
      </dgm:t>
    </dgm:pt>
    <dgm:pt modelId="{D089B914-D7B6-4EC4-863F-1E4E47818587}" type="parTrans" cxnId="{77EEEC2A-2599-453F-9E6D-4B4F9BF2ED7E}">
      <dgm:prSet/>
      <dgm:spPr/>
      <dgm:t>
        <a:bodyPr/>
        <a:lstStyle/>
        <a:p>
          <a:endParaRPr lang="en-US"/>
        </a:p>
      </dgm:t>
    </dgm:pt>
    <dgm:pt modelId="{95B56D4D-1DAA-4BAE-B14A-C72207258E5A}" type="sibTrans" cxnId="{77EEEC2A-2599-453F-9E6D-4B4F9BF2ED7E}">
      <dgm:prSet/>
      <dgm:spPr/>
      <dgm:t>
        <a:bodyPr/>
        <a:lstStyle/>
        <a:p>
          <a:endParaRPr lang="en-US"/>
        </a:p>
      </dgm:t>
    </dgm:pt>
    <dgm:pt modelId="{EBD7FCB7-C0B8-4569-9594-5B105BE47C4A}">
      <dgm:prSet/>
      <dgm:spPr/>
      <dgm:t>
        <a:bodyPr/>
        <a:lstStyle/>
        <a:p>
          <a:r>
            <a:rPr lang="tr-TR"/>
            <a:t>Extension Plan</a:t>
          </a:r>
          <a:endParaRPr lang="en-US"/>
        </a:p>
      </dgm:t>
    </dgm:pt>
    <dgm:pt modelId="{3F081CE6-F4CA-49E6-982C-C3ABCCD3D6EE}" type="parTrans" cxnId="{58347754-6571-4235-9073-F0892EEE1F8C}">
      <dgm:prSet/>
      <dgm:spPr/>
      <dgm:t>
        <a:bodyPr/>
        <a:lstStyle/>
        <a:p>
          <a:endParaRPr lang="en-US"/>
        </a:p>
      </dgm:t>
    </dgm:pt>
    <dgm:pt modelId="{54D14CBF-C25D-4A5B-8145-B8D92F06E61B}" type="sibTrans" cxnId="{58347754-6571-4235-9073-F0892EEE1F8C}">
      <dgm:prSet/>
      <dgm:spPr/>
      <dgm:t>
        <a:bodyPr/>
        <a:lstStyle/>
        <a:p>
          <a:endParaRPr lang="en-US"/>
        </a:p>
      </dgm:t>
    </dgm:pt>
    <dgm:pt modelId="{3D25D68C-5D7F-476D-AD08-638185B63E73}">
      <dgm:prSet/>
      <dgm:spPr/>
      <dgm:t>
        <a:bodyPr/>
        <a:lstStyle/>
        <a:p>
          <a:r>
            <a:rPr lang="tr-TR"/>
            <a:t>References</a:t>
          </a:r>
          <a:endParaRPr lang="en-US"/>
        </a:p>
      </dgm:t>
    </dgm:pt>
    <dgm:pt modelId="{D7C231E0-DB5B-4B98-AF2A-54FBC852AFAB}" type="parTrans" cxnId="{C4F737B1-EB3E-4E8B-883E-94B2A3658284}">
      <dgm:prSet/>
      <dgm:spPr/>
      <dgm:t>
        <a:bodyPr/>
        <a:lstStyle/>
        <a:p>
          <a:endParaRPr lang="en-US"/>
        </a:p>
      </dgm:t>
    </dgm:pt>
    <dgm:pt modelId="{CCC3B403-C7D2-47FD-86CD-E3055C88B204}" type="sibTrans" cxnId="{C4F737B1-EB3E-4E8B-883E-94B2A3658284}">
      <dgm:prSet/>
      <dgm:spPr/>
      <dgm:t>
        <a:bodyPr/>
        <a:lstStyle/>
        <a:p>
          <a:endParaRPr lang="en-US"/>
        </a:p>
      </dgm:t>
    </dgm:pt>
    <dgm:pt modelId="{03AC72B4-B59F-4119-983D-5CD2CC6396F9}" type="pres">
      <dgm:prSet presAssocID="{BE1321F4-3159-48D9-B48A-8602235903C6}" presName="vert0" presStyleCnt="0">
        <dgm:presLayoutVars>
          <dgm:dir/>
          <dgm:animOne val="branch"/>
          <dgm:animLvl val="lvl"/>
        </dgm:presLayoutVars>
      </dgm:prSet>
      <dgm:spPr/>
    </dgm:pt>
    <dgm:pt modelId="{7691ADB0-708F-4E89-A278-4EBDEE7ABB90}" type="pres">
      <dgm:prSet presAssocID="{E25F2EE9-C538-4262-97A1-BC82846EE54F}" presName="thickLine" presStyleLbl="alignNode1" presStyleIdx="0" presStyleCnt="7"/>
      <dgm:spPr/>
    </dgm:pt>
    <dgm:pt modelId="{C3D6B7F4-C6B9-46FF-9CB1-DB817CACF10F}" type="pres">
      <dgm:prSet presAssocID="{E25F2EE9-C538-4262-97A1-BC82846EE54F}" presName="horz1" presStyleCnt="0"/>
      <dgm:spPr/>
    </dgm:pt>
    <dgm:pt modelId="{4623B39E-136F-402E-8A71-158623E4F732}" type="pres">
      <dgm:prSet presAssocID="{E25F2EE9-C538-4262-97A1-BC82846EE54F}" presName="tx1" presStyleLbl="revTx" presStyleIdx="0" presStyleCnt="7"/>
      <dgm:spPr/>
    </dgm:pt>
    <dgm:pt modelId="{50D80029-C0A6-4514-8EA6-A527FFC57470}" type="pres">
      <dgm:prSet presAssocID="{E25F2EE9-C538-4262-97A1-BC82846EE54F}" presName="vert1" presStyleCnt="0"/>
      <dgm:spPr/>
    </dgm:pt>
    <dgm:pt modelId="{4F2C7B6F-18D5-4FAD-A72F-045DA79F09B9}" type="pres">
      <dgm:prSet presAssocID="{1814485E-252E-4162-A4FA-625DC3984780}" presName="thickLine" presStyleLbl="alignNode1" presStyleIdx="1" presStyleCnt="7"/>
      <dgm:spPr/>
    </dgm:pt>
    <dgm:pt modelId="{F7035E9A-E886-4C07-A03C-BB9D9A2F0171}" type="pres">
      <dgm:prSet presAssocID="{1814485E-252E-4162-A4FA-625DC3984780}" presName="horz1" presStyleCnt="0"/>
      <dgm:spPr/>
    </dgm:pt>
    <dgm:pt modelId="{E677D0C2-88DC-409A-8E95-9C694D19564B}" type="pres">
      <dgm:prSet presAssocID="{1814485E-252E-4162-A4FA-625DC3984780}" presName="tx1" presStyleLbl="revTx" presStyleIdx="1" presStyleCnt="7"/>
      <dgm:spPr/>
    </dgm:pt>
    <dgm:pt modelId="{91CA4257-7396-45F4-BC31-42193E61696A}" type="pres">
      <dgm:prSet presAssocID="{1814485E-252E-4162-A4FA-625DC3984780}" presName="vert1" presStyleCnt="0"/>
      <dgm:spPr/>
    </dgm:pt>
    <dgm:pt modelId="{CFC65213-179A-482E-85F0-DFD0D2037F22}" type="pres">
      <dgm:prSet presAssocID="{5948AE75-D7E0-4033-AE64-880C64AD7231}" presName="thickLine" presStyleLbl="alignNode1" presStyleIdx="2" presStyleCnt="7"/>
      <dgm:spPr/>
    </dgm:pt>
    <dgm:pt modelId="{D35FF00B-4362-4AB2-82E3-8A1A4FA1BA30}" type="pres">
      <dgm:prSet presAssocID="{5948AE75-D7E0-4033-AE64-880C64AD7231}" presName="horz1" presStyleCnt="0"/>
      <dgm:spPr/>
    </dgm:pt>
    <dgm:pt modelId="{91BD6DE4-B54E-4B18-BE46-F346807BB158}" type="pres">
      <dgm:prSet presAssocID="{5948AE75-D7E0-4033-AE64-880C64AD7231}" presName="tx1" presStyleLbl="revTx" presStyleIdx="2" presStyleCnt="7"/>
      <dgm:spPr/>
    </dgm:pt>
    <dgm:pt modelId="{C74CDB84-8EE6-46A4-9F20-8B511EADEA16}" type="pres">
      <dgm:prSet presAssocID="{5948AE75-D7E0-4033-AE64-880C64AD7231}" presName="vert1" presStyleCnt="0"/>
      <dgm:spPr/>
    </dgm:pt>
    <dgm:pt modelId="{863AD969-4C16-4F8B-AD08-930EE2F329A3}" type="pres">
      <dgm:prSet presAssocID="{1C4E7A82-12C5-41C7-849A-C60F24528381}" presName="thickLine" presStyleLbl="alignNode1" presStyleIdx="3" presStyleCnt="7"/>
      <dgm:spPr/>
    </dgm:pt>
    <dgm:pt modelId="{64822708-AA52-430D-8155-51B5CC491491}" type="pres">
      <dgm:prSet presAssocID="{1C4E7A82-12C5-41C7-849A-C60F24528381}" presName="horz1" presStyleCnt="0"/>
      <dgm:spPr/>
    </dgm:pt>
    <dgm:pt modelId="{030124B3-8FB6-49EE-9007-C47CEE8E0EAF}" type="pres">
      <dgm:prSet presAssocID="{1C4E7A82-12C5-41C7-849A-C60F24528381}" presName="tx1" presStyleLbl="revTx" presStyleIdx="3" presStyleCnt="7"/>
      <dgm:spPr/>
    </dgm:pt>
    <dgm:pt modelId="{81531E59-DC06-45E0-B668-C38706F78931}" type="pres">
      <dgm:prSet presAssocID="{1C4E7A82-12C5-41C7-849A-C60F24528381}" presName="vert1" presStyleCnt="0"/>
      <dgm:spPr/>
    </dgm:pt>
    <dgm:pt modelId="{37F47A97-35C1-4BE0-A9FE-3871EDACA105}" type="pres">
      <dgm:prSet presAssocID="{676FD264-5561-49DA-9A11-A7C4734A0846}" presName="thickLine" presStyleLbl="alignNode1" presStyleIdx="4" presStyleCnt="7"/>
      <dgm:spPr/>
    </dgm:pt>
    <dgm:pt modelId="{2BDAAA4B-7267-4DC8-A156-DF844C3558E0}" type="pres">
      <dgm:prSet presAssocID="{676FD264-5561-49DA-9A11-A7C4734A0846}" presName="horz1" presStyleCnt="0"/>
      <dgm:spPr/>
    </dgm:pt>
    <dgm:pt modelId="{4713D89C-DE29-4232-B08D-8472D535069D}" type="pres">
      <dgm:prSet presAssocID="{676FD264-5561-49DA-9A11-A7C4734A0846}" presName="tx1" presStyleLbl="revTx" presStyleIdx="4" presStyleCnt="7"/>
      <dgm:spPr/>
    </dgm:pt>
    <dgm:pt modelId="{06DC59DD-5435-44A7-813A-033509CED521}" type="pres">
      <dgm:prSet presAssocID="{676FD264-5561-49DA-9A11-A7C4734A0846}" presName="vert1" presStyleCnt="0"/>
      <dgm:spPr/>
    </dgm:pt>
    <dgm:pt modelId="{E9754E9F-93C3-4DA1-B9D6-9B0A31F724BF}" type="pres">
      <dgm:prSet presAssocID="{EBD7FCB7-C0B8-4569-9594-5B105BE47C4A}" presName="thickLine" presStyleLbl="alignNode1" presStyleIdx="5" presStyleCnt="7"/>
      <dgm:spPr/>
    </dgm:pt>
    <dgm:pt modelId="{4609F46A-A1FC-4501-8C01-E61499B464EE}" type="pres">
      <dgm:prSet presAssocID="{EBD7FCB7-C0B8-4569-9594-5B105BE47C4A}" presName="horz1" presStyleCnt="0"/>
      <dgm:spPr/>
    </dgm:pt>
    <dgm:pt modelId="{D9D271E0-3964-41B6-B202-D63D609C9B04}" type="pres">
      <dgm:prSet presAssocID="{EBD7FCB7-C0B8-4569-9594-5B105BE47C4A}" presName="tx1" presStyleLbl="revTx" presStyleIdx="5" presStyleCnt="7"/>
      <dgm:spPr/>
    </dgm:pt>
    <dgm:pt modelId="{3FF7CDAD-CF6D-42F8-AC28-700BD5ED2902}" type="pres">
      <dgm:prSet presAssocID="{EBD7FCB7-C0B8-4569-9594-5B105BE47C4A}" presName="vert1" presStyleCnt="0"/>
      <dgm:spPr/>
    </dgm:pt>
    <dgm:pt modelId="{3FD15E13-8F89-4B71-B317-324912F1733A}" type="pres">
      <dgm:prSet presAssocID="{3D25D68C-5D7F-476D-AD08-638185B63E73}" presName="thickLine" presStyleLbl="alignNode1" presStyleIdx="6" presStyleCnt="7"/>
      <dgm:spPr/>
    </dgm:pt>
    <dgm:pt modelId="{C296BC3B-B883-4289-A178-ADE515ECEDC1}" type="pres">
      <dgm:prSet presAssocID="{3D25D68C-5D7F-476D-AD08-638185B63E73}" presName="horz1" presStyleCnt="0"/>
      <dgm:spPr/>
    </dgm:pt>
    <dgm:pt modelId="{E74A0C01-1462-4F10-889D-CF74BF20697C}" type="pres">
      <dgm:prSet presAssocID="{3D25D68C-5D7F-476D-AD08-638185B63E73}" presName="tx1" presStyleLbl="revTx" presStyleIdx="6" presStyleCnt="7"/>
      <dgm:spPr/>
    </dgm:pt>
    <dgm:pt modelId="{F704BC97-8F19-4E63-A8DD-31E5E3126BBF}" type="pres">
      <dgm:prSet presAssocID="{3D25D68C-5D7F-476D-AD08-638185B63E73}" presName="vert1" presStyleCnt="0"/>
      <dgm:spPr/>
    </dgm:pt>
  </dgm:ptLst>
  <dgm:cxnLst>
    <dgm:cxn modelId="{E1A43D04-24D6-41BF-B321-3115776EC9C4}" type="presOf" srcId="{676FD264-5561-49DA-9A11-A7C4734A0846}" destId="{4713D89C-DE29-4232-B08D-8472D535069D}" srcOrd="0" destOrd="0" presId="urn:microsoft.com/office/officeart/2008/layout/LinedList"/>
    <dgm:cxn modelId="{42FE4F0B-37A8-4062-886A-833939FF05FD}" srcId="{BE1321F4-3159-48D9-B48A-8602235903C6}" destId="{5948AE75-D7E0-4033-AE64-880C64AD7231}" srcOrd="2" destOrd="0" parTransId="{CEA5661D-361B-4BD3-8468-2BCF8D3C4F93}" sibTransId="{9E5D8051-2CC8-459C-9911-A52ADDE747DC}"/>
    <dgm:cxn modelId="{31D1AD14-4255-47D2-96D3-6C1977CFA6D7}" srcId="{BE1321F4-3159-48D9-B48A-8602235903C6}" destId="{E25F2EE9-C538-4262-97A1-BC82846EE54F}" srcOrd="0" destOrd="0" parTransId="{C89B8C9E-F8BC-4B6A-8554-1347F71A4013}" sibTransId="{1E918379-D868-40AB-86A2-D85ED7C50363}"/>
    <dgm:cxn modelId="{77EEEC2A-2599-453F-9E6D-4B4F9BF2ED7E}" srcId="{BE1321F4-3159-48D9-B48A-8602235903C6}" destId="{676FD264-5561-49DA-9A11-A7C4734A0846}" srcOrd="4" destOrd="0" parTransId="{D089B914-D7B6-4EC4-863F-1E4E47818587}" sibTransId="{95B56D4D-1DAA-4BAE-B14A-C72207258E5A}"/>
    <dgm:cxn modelId="{D2D04E3F-811D-4E6A-9B89-7165AFA633A6}" type="presOf" srcId="{1814485E-252E-4162-A4FA-625DC3984780}" destId="{E677D0C2-88DC-409A-8E95-9C694D19564B}" srcOrd="0" destOrd="0" presId="urn:microsoft.com/office/officeart/2008/layout/LinedList"/>
    <dgm:cxn modelId="{69E7BD45-4B2A-4742-8E76-46716D3918AF}" srcId="{BE1321F4-3159-48D9-B48A-8602235903C6}" destId="{1814485E-252E-4162-A4FA-625DC3984780}" srcOrd="1" destOrd="0" parTransId="{36B78D1C-6289-4398-A070-05280BB53B64}" sibTransId="{F195499C-C228-4A32-899E-538A70C6F571}"/>
    <dgm:cxn modelId="{463A524B-EFA6-4FF6-A434-46062F9AB035}" type="presOf" srcId="{E25F2EE9-C538-4262-97A1-BC82846EE54F}" destId="{4623B39E-136F-402E-8A71-158623E4F732}" srcOrd="0" destOrd="0" presId="urn:microsoft.com/office/officeart/2008/layout/LinedList"/>
    <dgm:cxn modelId="{58347754-6571-4235-9073-F0892EEE1F8C}" srcId="{BE1321F4-3159-48D9-B48A-8602235903C6}" destId="{EBD7FCB7-C0B8-4569-9594-5B105BE47C4A}" srcOrd="5" destOrd="0" parTransId="{3F081CE6-F4CA-49E6-982C-C3ABCCD3D6EE}" sibTransId="{54D14CBF-C25D-4A5B-8145-B8D92F06E61B}"/>
    <dgm:cxn modelId="{46079884-72A3-47EC-B40A-12EBDBE00F2F}" type="presOf" srcId="{5948AE75-D7E0-4033-AE64-880C64AD7231}" destId="{91BD6DE4-B54E-4B18-BE46-F346807BB158}" srcOrd="0" destOrd="0" presId="urn:microsoft.com/office/officeart/2008/layout/LinedList"/>
    <dgm:cxn modelId="{3EE58FA6-2878-4835-91E0-68AE3BD5F337}" type="presOf" srcId="{3D25D68C-5D7F-476D-AD08-638185B63E73}" destId="{E74A0C01-1462-4F10-889D-CF74BF20697C}" srcOrd="0" destOrd="0" presId="urn:microsoft.com/office/officeart/2008/layout/LinedList"/>
    <dgm:cxn modelId="{C4F737B1-EB3E-4E8B-883E-94B2A3658284}" srcId="{BE1321F4-3159-48D9-B48A-8602235903C6}" destId="{3D25D68C-5D7F-476D-AD08-638185B63E73}" srcOrd="6" destOrd="0" parTransId="{D7C231E0-DB5B-4B98-AF2A-54FBC852AFAB}" sibTransId="{CCC3B403-C7D2-47FD-86CD-E3055C88B204}"/>
    <dgm:cxn modelId="{E3B4DEB1-BBF4-4C57-9B6F-7AB08BEB1990}" srcId="{BE1321F4-3159-48D9-B48A-8602235903C6}" destId="{1C4E7A82-12C5-41C7-849A-C60F24528381}" srcOrd="3" destOrd="0" parTransId="{FD2D5E8A-9CCC-4189-961F-78B412048DE7}" sibTransId="{5E228136-6CE3-4644-A4C5-8E62ED0B6D92}"/>
    <dgm:cxn modelId="{BB3062D8-C07D-4B0A-A191-0ED6A6F1B3B9}" type="presOf" srcId="{1C4E7A82-12C5-41C7-849A-C60F24528381}" destId="{030124B3-8FB6-49EE-9007-C47CEE8E0EAF}" srcOrd="0" destOrd="0" presId="urn:microsoft.com/office/officeart/2008/layout/LinedList"/>
    <dgm:cxn modelId="{7A73A1E1-C504-497D-A852-7A448D90C990}" type="presOf" srcId="{BE1321F4-3159-48D9-B48A-8602235903C6}" destId="{03AC72B4-B59F-4119-983D-5CD2CC6396F9}" srcOrd="0" destOrd="0" presId="urn:microsoft.com/office/officeart/2008/layout/LinedList"/>
    <dgm:cxn modelId="{01AA96E8-A69D-407E-8A4E-EDB0AEB3B3DA}" type="presOf" srcId="{EBD7FCB7-C0B8-4569-9594-5B105BE47C4A}" destId="{D9D271E0-3964-41B6-B202-D63D609C9B04}" srcOrd="0" destOrd="0" presId="urn:microsoft.com/office/officeart/2008/layout/LinedList"/>
    <dgm:cxn modelId="{63A83711-5B9A-42D3-90D2-BAC1EA247801}" type="presParOf" srcId="{03AC72B4-B59F-4119-983D-5CD2CC6396F9}" destId="{7691ADB0-708F-4E89-A278-4EBDEE7ABB90}" srcOrd="0" destOrd="0" presId="urn:microsoft.com/office/officeart/2008/layout/LinedList"/>
    <dgm:cxn modelId="{99666BC5-6059-4066-AD8F-0F731CE09C88}" type="presParOf" srcId="{03AC72B4-B59F-4119-983D-5CD2CC6396F9}" destId="{C3D6B7F4-C6B9-46FF-9CB1-DB817CACF10F}" srcOrd="1" destOrd="0" presId="urn:microsoft.com/office/officeart/2008/layout/LinedList"/>
    <dgm:cxn modelId="{DEF97FB1-A3A3-4503-A5D5-41DA8ADEFF5F}" type="presParOf" srcId="{C3D6B7F4-C6B9-46FF-9CB1-DB817CACF10F}" destId="{4623B39E-136F-402E-8A71-158623E4F732}" srcOrd="0" destOrd="0" presId="urn:microsoft.com/office/officeart/2008/layout/LinedList"/>
    <dgm:cxn modelId="{F2A14AFB-0458-4A65-B678-0A69FC3A4D48}" type="presParOf" srcId="{C3D6B7F4-C6B9-46FF-9CB1-DB817CACF10F}" destId="{50D80029-C0A6-4514-8EA6-A527FFC57470}" srcOrd="1" destOrd="0" presId="urn:microsoft.com/office/officeart/2008/layout/LinedList"/>
    <dgm:cxn modelId="{85741F34-21CF-4342-B261-E793A0CBC60E}" type="presParOf" srcId="{03AC72B4-B59F-4119-983D-5CD2CC6396F9}" destId="{4F2C7B6F-18D5-4FAD-A72F-045DA79F09B9}" srcOrd="2" destOrd="0" presId="urn:microsoft.com/office/officeart/2008/layout/LinedList"/>
    <dgm:cxn modelId="{D35A9D05-F3E8-4A28-A002-BF0E7F2DB5E9}" type="presParOf" srcId="{03AC72B4-B59F-4119-983D-5CD2CC6396F9}" destId="{F7035E9A-E886-4C07-A03C-BB9D9A2F0171}" srcOrd="3" destOrd="0" presId="urn:microsoft.com/office/officeart/2008/layout/LinedList"/>
    <dgm:cxn modelId="{7B7A1BB5-83DC-4200-8147-C23A942F36F3}" type="presParOf" srcId="{F7035E9A-E886-4C07-A03C-BB9D9A2F0171}" destId="{E677D0C2-88DC-409A-8E95-9C694D19564B}" srcOrd="0" destOrd="0" presId="urn:microsoft.com/office/officeart/2008/layout/LinedList"/>
    <dgm:cxn modelId="{550FB2EA-F45A-4877-B242-EE4EB351E948}" type="presParOf" srcId="{F7035E9A-E886-4C07-A03C-BB9D9A2F0171}" destId="{91CA4257-7396-45F4-BC31-42193E61696A}" srcOrd="1" destOrd="0" presId="urn:microsoft.com/office/officeart/2008/layout/LinedList"/>
    <dgm:cxn modelId="{E0CBA567-C07F-4DD9-881E-DB26847D69A0}" type="presParOf" srcId="{03AC72B4-B59F-4119-983D-5CD2CC6396F9}" destId="{CFC65213-179A-482E-85F0-DFD0D2037F22}" srcOrd="4" destOrd="0" presId="urn:microsoft.com/office/officeart/2008/layout/LinedList"/>
    <dgm:cxn modelId="{12EE34A7-697F-489F-ABE6-B8CFC906A8A0}" type="presParOf" srcId="{03AC72B4-B59F-4119-983D-5CD2CC6396F9}" destId="{D35FF00B-4362-4AB2-82E3-8A1A4FA1BA30}" srcOrd="5" destOrd="0" presId="urn:microsoft.com/office/officeart/2008/layout/LinedList"/>
    <dgm:cxn modelId="{0DCC6B7C-2121-4C4F-8589-BC350490C286}" type="presParOf" srcId="{D35FF00B-4362-4AB2-82E3-8A1A4FA1BA30}" destId="{91BD6DE4-B54E-4B18-BE46-F346807BB158}" srcOrd="0" destOrd="0" presId="urn:microsoft.com/office/officeart/2008/layout/LinedList"/>
    <dgm:cxn modelId="{2A0C4109-1CA4-4C83-BFFD-15FAB9C0A242}" type="presParOf" srcId="{D35FF00B-4362-4AB2-82E3-8A1A4FA1BA30}" destId="{C74CDB84-8EE6-46A4-9F20-8B511EADEA16}" srcOrd="1" destOrd="0" presId="urn:microsoft.com/office/officeart/2008/layout/LinedList"/>
    <dgm:cxn modelId="{D8501D37-0AF7-448C-A706-E6359E5923FB}" type="presParOf" srcId="{03AC72B4-B59F-4119-983D-5CD2CC6396F9}" destId="{863AD969-4C16-4F8B-AD08-930EE2F329A3}" srcOrd="6" destOrd="0" presId="urn:microsoft.com/office/officeart/2008/layout/LinedList"/>
    <dgm:cxn modelId="{EB50E1C0-25F9-4380-989C-A6D3EC5838EE}" type="presParOf" srcId="{03AC72B4-B59F-4119-983D-5CD2CC6396F9}" destId="{64822708-AA52-430D-8155-51B5CC491491}" srcOrd="7" destOrd="0" presId="urn:microsoft.com/office/officeart/2008/layout/LinedList"/>
    <dgm:cxn modelId="{DC8EE03B-CFE9-4476-9347-56502BE87F5B}" type="presParOf" srcId="{64822708-AA52-430D-8155-51B5CC491491}" destId="{030124B3-8FB6-49EE-9007-C47CEE8E0EAF}" srcOrd="0" destOrd="0" presId="urn:microsoft.com/office/officeart/2008/layout/LinedList"/>
    <dgm:cxn modelId="{AF7CE9A1-624B-44DB-AEBF-E2A1AF752863}" type="presParOf" srcId="{64822708-AA52-430D-8155-51B5CC491491}" destId="{81531E59-DC06-45E0-B668-C38706F78931}" srcOrd="1" destOrd="0" presId="urn:microsoft.com/office/officeart/2008/layout/LinedList"/>
    <dgm:cxn modelId="{89F3B596-75BF-48B9-9EA3-8999914495F2}" type="presParOf" srcId="{03AC72B4-B59F-4119-983D-5CD2CC6396F9}" destId="{37F47A97-35C1-4BE0-A9FE-3871EDACA105}" srcOrd="8" destOrd="0" presId="urn:microsoft.com/office/officeart/2008/layout/LinedList"/>
    <dgm:cxn modelId="{6318A0E1-5248-4932-A42F-2DAB82F04E5B}" type="presParOf" srcId="{03AC72B4-B59F-4119-983D-5CD2CC6396F9}" destId="{2BDAAA4B-7267-4DC8-A156-DF844C3558E0}" srcOrd="9" destOrd="0" presId="urn:microsoft.com/office/officeart/2008/layout/LinedList"/>
    <dgm:cxn modelId="{A0895C53-1B3F-4B58-945C-338B400DDEA2}" type="presParOf" srcId="{2BDAAA4B-7267-4DC8-A156-DF844C3558E0}" destId="{4713D89C-DE29-4232-B08D-8472D535069D}" srcOrd="0" destOrd="0" presId="urn:microsoft.com/office/officeart/2008/layout/LinedList"/>
    <dgm:cxn modelId="{95903583-6E43-4171-928E-78492711D4D0}" type="presParOf" srcId="{2BDAAA4B-7267-4DC8-A156-DF844C3558E0}" destId="{06DC59DD-5435-44A7-813A-033509CED521}" srcOrd="1" destOrd="0" presId="urn:microsoft.com/office/officeart/2008/layout/LinedList"/>
    <dgm:cxn modelId="{03155C61-3FFF-4783-842F-B9F6EE888CA1}" type="presParOf" srcId="{03AC72B4-B59F-4119-983D-5CD2CC6396F9}" destId="{E9754E9F-93C3-4DA1-B9D6-9B0A31F724BF}" srcOrd="10" destOrd="0" presId="urn:microsoft.com/office/officeart/2008/layout/LinedList"/>
    <dgm:cxn modelId="{80CA8B63-2A95-4264-AF42-3094C984EB85}" type="presParOf" srcId="{03AC72B4-B59F-4119-983D-5CD2CC6396F9}" destId="{4609F46A-A1FC-4501-8C01-E61499B464EE}" srcOrd="11" destOrd="0" presId="urn:microsoft.com/office/officeart/2008/layout/LinedList"/>
    <dgm:cxn modelId="{745F003B-8C37-49FA-82FF-A041E84B42CD}" type="presParOf" srcId="{4609F46A-A1FC-4501-8C01-E61499B464EE}" destId="{D9D271E0-3964-41B6-B202-D63D609C9B04}" srcOrd="0" destOrd="0" presId="urn:microsoft.com/office/officeart/2008/layout/LinedList"/>
    <dgm:cxn modelId="{73B1D0B1-16AF-4E6F-8AD3-F3D5548033DC}" type="presParOf" srcId="{4609F46A-A1FC-4501-8C01-E61499B464EE}" destId="{3FF7CDAD-CF6D-42F8-AC28-700BD5ED2902}" srcOrd="1" destOrd="0" presId="urn:microsoft.com/office/officeart/2008/layout/LinedList"/>
    <dgm:cxn modelId="{D6476004-CE10-4B45-B1AB-4DCBC5D40BE9}" type="presParOf" srcId="{03AC72B4-B59F-4119-983D-5CD2CC6396F9}" destId="{3FD15E13-8F89-4B71-B317-324912F1733A}" srcOrd="12" destOrd="0" presId="urn:microsoft.com/office/officeart/2008/layout/LinedList"/>
    <dgm:cxn modelId="{A3EF335E-8B58-402F-B717-92DCA34AC296}" type="presParOf" srcId="{03AC72B4-B59F-4119-983D-5CD2CC6396F9}" destId="{C296BC3B-B883-4289-A178-ADE515ECEDC1}" srcOrd="13" destOrd="0" presId="urn:microsoft.com/office/officeart/2008/layout/LinedList"/>
    <dgm:cxn modelId="{0C63EA46-598C-4DD4-AA00-ED87F86D2B79}" type="presParOf" srcId="{C296BC3B-B883-4289-A178-ADE515ECEDC1}" destId="{E74A0C01-1462-4F10-889D-CF74BF20697C}" srcOrd="0" destOrd="0" presId="urn:microsoft.com/office/officeart/2008/layout/LinedList"/>
    <dgm:cxn modelId="{3FBFBD95-17D2-4736-9978-DC9DCA3CABB1}" type="presParOf" srcId="{C296BC3B-B883-4289-A178-ADE515ECEDC1}" destId="{F704BC97-8F19-4E63-A8DD-31E5E3126B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1ADB0-708F-4E89-A278-4EBDEE7ABB90}">
      <dsp:nvSpPr>
        <dsp:cNvPr id="0" name=""/>
        <dsp:cNvSpPr/>
      </dsp:nvSpPr>
      <dsp:spPr>
        <a:xfrm>
          <a:off x="0" y="704"/>
          <a:ext cx="58839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3B39E-136F-402E-8A71-158623E4F732}">
      <dsp:nvSpPr>
        <dsp:cNvPr id="0" name=""/>
        <dsp:cNvSpPr/>
      </dsp:nvSpPr>
      <dsp:spPr>
        <a:xfrm>
          <a:off x="0" y="704"/>
          <a:ext cx="5883964" cy="82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/>
            <a:t>Selected Paper</a:t>
          </a:r>
          <a:endParaRPr lang="en-US" sz="3700" kern="1200"/>
        </a:p>
      </dsp:txBody>
      <dsp:txXfrm>
        <a:off x="0" y="704"/>
        <a:ext cx="5883964" cy="824295"/>
      </dsp:txXfrm>
    </dsp:sp>
    <dsp:sp modelId="{4F2C7B6F-18D5-4FAD-A72F-045DA79F09B9}">
      <dsp:nvSpPr>
        <dsp:cNvPr id="0" name=""/>
        <dsp:cNvSpPr/>
      </dsp:nvSpPr>
      <dsp:spPr>
        <a:xfrm>
          <a:off x="0" y="825000"/>
          <a:ext cx="58839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7D0C2-88DC-409A-8E95-9C694D19564B}">
      <dsp:nvSpPr>
        <dsp:cNvPr id="0" name=""/>
        <dsp:cNvSpPr/>
      </dsp:nvSpPr>
      <dsp:spPr>
        <a:xfrm>
          <a:off x="0" y="825000"/>
          <a:ext cx="5883964" cy="82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/>
            <a:t>Core Contribution – Relevance</a:t>
          </a:r>
          <a:endParaRPr lang="en-US" sz="3700" kern="1200"/>
        </a:p>
      </dsp:txBody>
      <dsp:txXfrm>
        <a:off x="0" y="825000"/>
        <a:ext cx="5883964" cy="824295"/>
      </dsp:txXfrm>
    </dsp:sp>
    <dsp:sp modelId="{CFC65213-179A-482E-85F0-DFD0D2037F22}">
      <dsp:nvSpPr>
        <dsp:cNvPr id="0" name=""/>
        <dsp:cNvSpPr/>
      </dsp:nvSpPr>
      <dsp:spPr>
        <a:xfrm>
          <a:off x="0" y="1649296"/>
          <a:ext cx="58839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D6DE4-B54E-4B18-BE46-F346807BB158}">
      <dsp:nvSpPr>
        <dsp:cNvPr id="0" name=""/>
        <dsp:cNvSpPr/>
      </dsp:nvSpPr>
      <dsp:spPr>
        <a:xfrm>
          <a:off x="0" y="1649296"/>
          <a:ext cx="5883964" cy="82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/>
            <a:t>Related Work</a:t>
          </a:r>
          <a:endParaRPr lang="en-US" sz="3700" kern="1200"/>
        </a:p>
      </dsp:txBody>
      <dsp:txXfrm>
        <a:off x="0" y="1649296"/>
        <a:ext cx="5883964" cy="824295"/>
      </dsp:txXfrm>
    </dsp:sp>
    <dsp:sp modelId="{863AD969-4C16-4F8B-AD08-930EE2F329A3}">
      <dsp:nvSpPr>
        <dsp:cNvPr id="0" name=""/>
        <dsp:cNvSpPr/>
      </dsp:nvSpPr>
      <dsp:spPr>
        <a:xfrm>
          <a:off x="0" y="2473592"/>
          <a:ext cx="58839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124B3-8FB6-49EE-9007-C47CEE8E0EAF}">
      <dsp:nvSpPr>
        <dsp:cNvPr id="0" name=""/>
        <dsp:cNvSpPr/>
      </dsp:nvSpPr>
      <dsp:spPr>
        <a:xfrm>
          <a:off x="0" y="2473592"/>
          <a:ext cx="5883964" cy="82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/>
            <a:t>Project Direction</a:t>
          </a:r>
          <a:endParaRPr lang="en-US" sz="3700" kern="1200"/>
        </a:p>
      </dsp:txBody>
      <dsp:txXfrm>
        <a:off x="0" y="2473592"/>
        <a:ext cx="5883964" cy="824295"/>
      </dsp:txXfrm>
    </dsp:sp>
    <dsp:sp modelId="{37F47A97-35C1-4BE0-A9FE-3871EDACA105}">
      <dsp:nvSpPr>
        <dsp:cNvPr id="0" name=""/>
        <dsp:cNvSpPr/>
      </dsp:nvSpPr>
      <dsp:spPr>
        <a:xfrm>
          <a:off x="0" y="3297888"/>
          <a:ext cx="58839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3D89C-DE29-4232-B08D-8472D535069D}">
      <dsp:nvSpPr>
        <dsp:cNvPr id="0" name=""/>
        <dsp:cNvSpPr/>
      </dsp:nvSpPr>
      <dsp:spPr>
        <a:xfrm>
          <a:off x="0" y="3297888"/>
          <a:ext cx="5883964" cy="82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/>
            <a:t>Reproduction Plan</a:t>
          </a:r>
          <a:endParaRPr lang="en-US" sz="3700" kern="1200"/>
        </a:p>
      </dsp:txBody>
      <dsp:txXfrm>
        <a:off x="0" y="3297888"/>
        <a:ext cx="5883964" cy="824295"/>
      </dsp:txXfrm>
    </dsp:sp>
    <dsp:sp modelId="{E9754E9F-93C3-4DA1-B9D6-9B0A31F724BF}">
      <dsp:nvSpPr>
        <dsp:cNvPr id="0" name=""/>
        <dsp:cNvSpPr/>
      </dsp:nvSpPr>
      <dsp:spPr>
        <a:xfrm>
          <a:off x="0" y="4122184"/>
          <a:ext cx="58839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271E0-3964-41B6-B202-D63D609C9B04}">
      <dsp:nvSpPr>
        <dsp:cNvPr id="0" name=""/>
        <dsp:cNvSpPr/>
      </dsp:nvSpPr>
      <dsp:spPr>
        <a:xfrm>
          <a:off x="0" y="4122184"/>
          <a:ext cx="5883964" cy="82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/>
            <a:t>Extension Plan</a:t>
          </a:r>
          <a:endParaRPr lang="en-US" sz="3700" kern="1200"/>
        </a:p>
      </dsp:txBody>
      <dsp:txXfrm>
        <a:off x="0" y="4122184"/>
        <a:ext cx="5883964" cy="824295"/>
      </dsp:txXfrm>
    </dsp:sp>
    <dsp:sp modelId="{3FD15E13-8F89-4B71-B317-324912F1733A}">
      <dsp:nvSpPr>
        <dsp:cNvPr id="0" name=""/>
        <dsp:cNvSpPr/>
      </dsp:nvSpPr>
      <dsp:spPr>
        <a:xfrm>
          <a:off x="0" y="4946480"/>
          <a:ext cx="58839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A0C01-1462-4F10-889D-CF74BF20697C}">
      <dsp:nvSpPr>
        <dsp:cNvPr id="0" name=""/>
        <dsp:cNvSpPr/>
      </dsp:nvSpPr>
      <dsp:spPr>
        <a:xfrm>
          <a:off x="0" y="4946480"/>
          <a:ext cx="5883964" cy="824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/>
            <a:t>References</a:t>
          </a:r>
          <a:endParaRPr lang="en-US" sz="3700" kern="1200"/>
        </a:p>
      </dsp:txBody>
      <dsp:txXfrm>
        <a:off x="0" y="4946480"/>
        <a:ext cx="5883964" cy="8242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BD3-4CD3-4EF9-8435-18CA8AD1BBFB}" type="datetimeFigureOut">
              <a:rPr lang="tr-TR" smtClean="0"/>
              <a:t>26.03.2026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C7C5B-4A3C-4977-AE81-15EA38719C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003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Bu projede Value </a:t>
            </a:r>
            <a:r>
              <a:rPr lang="tr-TR" dirty="0" err="1"/>
              <a:t>Iteration</a:t>
            </a:r>
            <a:r>
              <a:rPr lang="tr-TR" dirty="0"/>
              <a:t> Networks makalesini seçtim. Çalışmanın amacı, makalenin </a:t>
            </a:r>
            <a:r>
              <a:rPr lang="tr-TR" dirty="0" err="1"/>
              <a:t>core</a:t>
            </a:r>
            <a:r>
              <a:rPr lang="tr-TR" dirty="0"/>
              <a:t> </a:t>
            </a:r>
            <a:r>
              <a:rPr lang="tr-TR" dirty="0" err="1"/>
              <a:t>contributionu</a:t>
            </a:r>
            <a:r>
              <a:rPr lang="tr-TR" dirty="0"/>
              <a:t> olan </a:t>
            </a:r>
            <a:r>
              <a:rPr lang="tr-TR" dirty="0" err="1"/>
              <a:t>genellenebilirliği</a:t>
            </a:r>
            <a:r>
              <a:rPr lang="tr-TR" dirty="0"/>
              <a:t> test etmek.</a:t>
            </a:r>
            <a:br>
              <a:rPr lang="tr-TR" dirty="0"/>
            </a:br>
            <a:r>
              <a:rPr lang="tr-TR" dirty="0"/>
              <a:t>Ayrıca modelin daha büyük ve daha karmaşık ortamlarda nasıl davrandığını test edeceğim.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C7C5B-4A3C-4977-AE81-15EA38719C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4963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Seçtiğim makale Tamar ve arkadaşlarının 2016 yılında </a:t>
            </a:r>
            <a:r>
              <a:rPr lang="tr-TR" dirty="0" err="1"/>
              <a:t>NeurIPS’te</a:t>
            </a:r>
            <a:r>
              <a:rPr lang="tr-TR" dirty="0"/>
              <a:t> yayınladığı Value </a:t>
            </a:r>
            <a:r>
              <a:rPr lang="tr-TR" dirty="0" err="1"/>
              <a:t>Iteration</a:t>
            </a:r>
            <a:r>
              <a:rPr lang="tr-TR" dirty="0"/>
              <a:t> Networks çalışmasıdır. </a:t>
            </a:r>
            <a:br>
              <a:rPr lang="tr-TR" dirty="0"/>
            </a:br>
            <a:r>
              <a:rPr lang="tr-TR" dirty="0"/>
              <a:t>Makale, planlama algoritmalarını sinir ağlarıyla birleştiren önemli bir çalışmadır..</a:t>
            </a:r>
            <a:br>
              <a:rPr lang="tr-TR" dirty="0"/>
            </a:br>
            <a:r>
              <a:rPr lang="tr-TR" dirty="0"/>
              <a:t>Ayrıca çalışmanın resmi kodu da açık olarak paylaşılmış durumda. Kendi kod </a:t>
            </a:r>
            <a:r>
              <a:rPr lang="tr-TR" dirty="0" err="1"/>
              <a:t>matlab</a:t>
            </a:r>
            <a:r>
              <a:rPr lang="tr-TR" dirty="0"/>
              <a:t> ortamında yapılmış, ben </a:t>
            </a:r>
            <a:r>
              <a:rPr lang="tr-TR" dirty="0" err="1"/>
              <a:t>kentsommer</a:t>
            </a:r>
            <a:r>
              <a:rPr lang="tr-TR" dirty="0"/>
              <a:t> a ait olan </a:t>
            </a:r>
            <a:r>
              <a:rPr lang="tr-TR" dirty="0" err="1"/>
              <a:t>pytorch</a:t>
            </a:r>
            <a:r>
              <a:rPr lang="tr-TR" dirty="0"/>
              <a:t> ortamında yazılmış kodu kullanacağım.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C7C5B-4A3C-4977-AE81-15EA38719C52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6867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Deep</a:t>
            </a:r>
            <a:r>
              <a:rPr lang="tr-TR" dirty="0"/>
              <a:t> </a:t>
            </a:r>
            <a:r>
              <a:rPr lang="tr-TR" dirty="0" err="1"/>
              <a:t>reinforcement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yöntemleri genellikle reaktif çalışır ve yeni ortamlara genelleme konusunda zayıftır.</a:t>
            </a:r>
            <a:br>
              <a:rPr lang="tr-TR" dirty="0"/>
            </a:br>
            <a:r>
              <a:rPr lang="tr-TR" dirty="0"/>
              <a:t>Öte yandan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gibi klasik yöntemler güçlüdür ama öğrenilebilir değildir.</a:t>
            </a:r>
            <a:br>
              <a:rPr lang="tr-TR" dirty="0"/>
            </a:br>
            <a:r>
              <a:rPr lang="tr-TR" dirty="0"/>
              <a:t>Bu makale bu iki yaklaşımı birleştirmeyi hedefliyor. VIN,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algoritmasını </a:t>
            </a:r>
            <a:r>
              <a:rPr lang="tr-TR" dirty="0" err="1"/>
              <a:t>convolutional</a:t>
            </a:r>
            <a:r>
              <a:rPr lang="tr-TR" dirty="0"/>
              <a:t> katmanlar ile yaklaşık olarak öğreniyor.</a:t>
            </a:r>
            <a:br>
              <a:rPr lang="tr-TR" dirty="0"/>
            </a:br>
            <a:r>
              <a:rPr lang="tr-TR" dirty="0"/>
              <a:t>Yani model, sadece aksiyon öğrenmek yerine bir planlama mekanizması öğreniyor.</a:t>
            </a:r>
          </a:p>
          <a:p>
            <a:r>
              <a:rPr lang="tr-TR" dirty="0"/>
              <a:t>Normal CNN’ler </a:t>
            </a:r>
            <a:r>
              <a:rPr lang="tr-TR" dirty="0" err="1"/>
              <a:t>reactive</a:t>
            </a:r>
            <a:r>
              <a:rPr lang="tr-TR" dirty="0"/>
              <a:t> çalışır, yani sadece mevcut duruma bakarak karar verir. Ama VIN, içindeki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yapısı sayesinde gelecekteki adımları hesaba katar.</a:t>
            </a:r>
            <a:br>
              <a:rPr lang="tr-TR" dirty="0"/>
            </a:br>
            <a:r>
              <a:rPr lang="tr-TR" dirty="0"/>
              <a:t>Bu yüzden özellikle uzun planlama gerektiren problemlerde daha başarılı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C7C5B-4A3C-4977-AE81-15EA38719C52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8146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VIN doğrudan aksiyon öğrenmiyor, aslında bir </a:t>
            </a:r>
            <a:r>
              <a:rPr lang="tr-TR" b="1" dirty="0"/>
              <a:t>planlama prosedürü</a:t>
            </a:r>
            <a:r>
              <a:rPr lang="tr-TR" dirty="0"/>
              <a:t> öğreniyor.</a:t>
            </a:r>
            <a:br>
              <a:rPr lang="tr-TR" dirty="0"/>
            </a:br>
            <a:r>
              <a:rPr lang="tr-TR" dirty="0"/>
              <a:t>Network içinde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algoritmasının bir </a:t>
            </a:r>
            <a:r>
              <a:rPr lang="tr-TR" dirty="0" err="1"/>
              <a:t>approx’ı</a:t>
            </a:r>
            <a:r>
              <a:rPr lang="tr-TR" dirty="0"/>
              <a:t> var.</a:t>
            </a:r>
            <a:br>
              <a:rPr lang="tr-TR" dirty="0"/>
            </a:br>
            <a:r>
              <a:rPr lang="tr-TR" dirty="0"/>
              <a:t>Yani model, </a:t>
            </a:r>
            <a:r>
              <a:rPr lang="tr-TR" dirty="0" err="1"/>
              <a:t>state</a:t>
            </a:r>
            <a:r>
              <a:rPr lang="tr-TR" dirty="0"/>
              <a:t> değerlerini </a:t>
            </a:r>
            <a:r>
              <a:rPr lang="tr-TR" dirty="0" err="1"/>
              <a:t>iteratif</a:t>
            </a:r>
            <a:r>
              <a:rPr lang="tr-TR" dirty="0"/>
              <a:t> olarak hesaplayarak bir plan oluşturmayı öğreniyor. VIN, girdiyi aldıktan sonra önce bir </a:t>
            </a:r>
            <a:r>
              <a:rPr lang="tr-TR" dirty="0" err="1"/>
              <a:t>reward</a:t>
            </a:r>
            <a:r>
              <a:rPr lang="tr-TR" dirty="0"/>
              <a:t> </a:t>
            </a:r>
            <a:r>
              <a:rPr lang="tr-TR" dirty="0" err="1"/>
              <a:t>map</a:t>
            </a:r>
            <a:r>
              <a:rPr lang="tr-TR" dirty="0"/>
              <a:t> oluşturur.</a:t>
            </a:r>
            <a:br>
              <a:rPr lang="tr-TR" dirty="0"/>
            </a:br>
            <a:r>
              <a:rPr lang="tr-TR" dirty="0"/>
              <a:t>Daha sonra k adet </a:t>
            </a:r>
            <a:r>
              <a:rPr lang="tr-TR" dirty="0" err="1"/>
              <a:t>convolution</a:t>
            </a:r>
            <a:r>
              <a:rPr lang="tr-TR" dirty="0"/>
              <a:t> ve </a:t>
            </a:r>
            <a:r>
              <a:rPr lang="tr-TR" dirty="0" err="1"/>
              <a:t>max</a:t>
            </a:r>
            <a:r>
              <a:rPr lang="tr-TR" dirty="0"/>
              <a:t> işlemi ile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algoritmasını </a:t>
            </a:r>
            <a:r>
              <a:rPr lang="tr-TR" dirty="0" err="1"/>
              <a:t>approx</a:t>
            </a:r>
            <a:r>
              <a:rPr lang="tr-TR" dirty="0"/>
              <a:t> eder.</a:t>
            </a:r>
            <a:br>
              <a:rPr lang="tr-TR" dirty="0"/>
            </a:br>
            <a:r>
              <a:rPr lang="tr-TR" dirty="0"/>
              <a:t>Bu işlemler sonucunda her </a:t>
            </a:r>
            <a:r>
              <a:rPr lang="tr-TR" dirty="0" err="1"/>
              <a:t>state</a:t>
            </a:r>
            <a:r>
              <a:rPr lang="tr-TR" dirty="0"/>
              <a:t> için bir değer hesaplanır.</a:t>
            </a:r>
            <a:br>
              <a:rPr lang="tr-TR" dirty="0"/>
            </a:br>
            <a:r>
              <a:rPr lang="tr-TR" dirty="0"/>
              <a:t>En son aşamada bu değerler kullanılarak en iyi aksiyon seçilir.”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C7C5B-4A3C-4977-AE81-15EA38719C52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8342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tr-TR" dirty="0"/>
              <a:t>Value </a:t>
            </a:r>
            <a:r>
              <a:rPr lang="tr-TR" dirty="0" err="1"/>
              <a:t>Iteration</a:t>
            </a:r>
            <a:r>
              <a:rPr lang="tr-TR" dirty="0"/>
              <a:t> klasik bir </a:t>
            </a:r>
            <a:r>
              <a:rPr lang="tr-TR" dirty="0" err="1"/>
              <a:t>planning</a:t>
            </a:r>
            <a:r>
              <a:rPr lang="tr-TR" dirty="0"/>
              <a:t> algoritmasıdır ve VIN doğrudan bu fikre dayanır.</a:t>
            </a:r>
            <a:br>
              <a:rPr lang="tr-TR" dirty="0"/>
            </a:br>
            <a:r>
              <a:rPr lang="tr-TR" dirty="0" err="1"/>
              <a:t>Gated</a:t>
            </a:r>
            <a:r>
              <a:rPr lang="tr-TR" dirty="0"/>
              <a:t> </a:t>
            </a:r>
            <a:r>
              <a:rPr lang="tr-TR" dirty="0" err="1"/>
              <a:t>Path</a:t>
            </a:r>
            <a:r>
              <a:rPr lang="tr-TR" dirty="0"/>
              <a:t> Planning Networks, </a:t>
            </a:r>
            <a:r>
              <a:rPr lang="tr-TR" dirty="0" err="1"/>
              <a:t>VIN’in</a:t>
            </a:r>
            <a:r>
              <a:rPr lang="tr-TR" dirty="0"/>
              <a:t> mimarisini geliştirerek daha stabil bir </a:t>
            </a:r>
            <a:r>
              <a:rPr lang="tr-TR" dirty="0" err="1"/>
              <a:t>planning</a:t>
            </a:r>
            <a:r>
              <a:rPr lang="tr-TR" dirty="0"/>
              <a:t> modeli önerir. </a:t>
            </a:r>
            <a:r>
              <a:rPr lang="tr-TR" dirty="0" err="1"/>
              <a:t>VIN’de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işlemi </a:t>
            </a:r>
            <a:r>
              <a:rPr lang="tr-TR" dirty="0" err="1"/>
              <a:t>convolution</a:t>
            </a:r>
            <a:r>
              <a:rPr lang="tr-TR" dirty="0"/>
              <a:t> + </a:t>
            </a:r>
            <a:r>
              <a:rPr lang="tr-TR" dirty="0" err="1"/>
              <a:t>max</a:t>
            </a:r>
            <a:r>
              <a:rPr lang="tr-TR" dirty="0"/>
              <a:t> operasyonları ile yapılır.</a:t>
            </a:r>
            <a:br>
              <a:rPr lang="tr-TR" dirty="0"/>
            </a:br>
            <a:r>
              <a:rPr lang="tr-TR" dirty="0"/>
              <a:t>Ama bu yapı </a:t>
            </a:r>
            <a:r>
              <a:rPr lang="tr-TR" dirty="0" err="1"/>
              <a:t>optimization</a:t>
            </a:r>
            <a:r>
              <a:rPr lang="tr-TR" dirty="0"/>
              <a:t> açısından zor ve </a:t>
            </a:r>
            <a:r>
              <a:rPr lang="tr-TR" dirty="0" err="1"/>
              <a:t>training</a:t>
            </a:r>
            <a:r>
              <a:rPr lang="tr-TR" dirty="0"/>
              <a:t> sırasında </a:t>
            </a:r>
            <a:r>
              <a:rPr lang="tr-TR" dirty="0" err="1"/>
              <a:t>unstable</a:t>
            </a:r>
            <a:r>
              <a:rPr lang="tr-TR" dirty="0"/>
              <a:t> olabilir. GPPN, </a:t>
            </a:r>
            <a:r>
              <a:rPr lang="tr-TR" dirty="0" err="1"/>
              <a:t>VIN’deki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modülünü kaldırıp yerine </a:t>
            </a:r>
            <a:r>
              <a:rPr lang="tr-TR" b="1" dirty="0" err="1"/>
              <a:t>gated</a:t>
            </a:r>
            <a:r>
              <a:rPr lang="tr-TR" b="1" dirty="0"/>
              <a:t> </a:t>
            </a:r>
            <a:r>
              <a:rPr lang="tr-TR" b="1" dirty="0" err="1"/>
              <a:t>recurrent</a:t>
            </a:r>
            <a:r>
              <a:rPr lang="tr-TR" b="1" dirty="0"/>
              <a:t> </a:t>
            </a:r>
            <a:r>
              <a:rPr lang="tr-TR" b="1" dirty="0" err="1"/>
              <a:t>unit</a:t>
            </a:r>
            <a:r>
              <a:rPr lang="tr-TR" b="1" dirty="0"/>
              <a:t> (GRU)</a:t>
            </a:r>
            <a:r>
              <a:rPr lang="tr-TR" dirty="0"/>
              <a:t> kullanıyor.</a:t>
            </a:r>
            <a:br>
              <a:rPr lang="tr-TR" dirty="0"/>
            </a:br>
            <a:r>
              <a:rPr lang="tr-TR" dirty="0"/>
              <a:t>Yani </a:t>
            </a:r>
            <a:r>
              <a:rPr lang="tr-TR" dirty="0" err="1"/>
              <a:t>planning</a:t>
            </a:r>
            <a:r>
              <a:rPr lang="tr-TR" dirty="0"/>
              <a:t> işlemini bir </a:t>
            </a:r>
            <a:r>
              <a:rPr lang="tr-TR" dirty="0" err="1"/>
              <a:t>recurrent</a:t>
            </a:r>
            <a:r>
              <a:rPr lang="tr-TR" dirty="0"/>
              <a:t> network olarak modelliyor. GRU gibi </a:t>
            </a:r>
            <a:r>
              <a:rPr lang="tr-TR" dirty="0" err="1"/>
              <a:t>gated</a:t>
            </a:r>
            <a:r>
              <a:rPr lang="tr-TR" dirty="0"/>
              <a:t> yapılar bilgi akışını daha iyi kontrol ettiği için </a:t>
            </a:r>
            <a:r>
              <a:rPr lang="tr-TR" dirty="0" err="1"/>
              <a:t>gradient</a:t>
            </a:r>
            <a:r>
              <a:rPr lang="tr-TR" dirty="0"/>
              <a:t> problemleri azalıyor ve model daha stabil öğreniyor.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C7C5B-4A3C-4977-AE81-15EA38719C52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415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Bu projede </a:t>
            </a:r>
            <a:r>
              <a:rPr lang="tr-TR" dirty="0" err="1"/>
              <a:t>Generalization</a:t>
            </a:r>
            <a:r>
              <a:rPr lang="tr-TR" dirty="0"/>
              <a:t> ve </a:t>
            </a:r>
            <a:r>
              <a:rPr lang="tr-TR" dirty="0" err="1"/>
              <a:t>Robustness</a:t>
            </a:r>
            <a:r>
              <a:rPr lang="tr-TR" dirty="0"/>
              <a:t> analizlerini birlikte ele alıyorum.</a:t>
            </a:r>
            <a:br>
              <a:rPr lang="tr-TR" dirty="0"/>
            </a:br>
            <a:r>
              <a:rPr lang="tr-TR" dirty="0"/>
              <a:t>Amaç, </a:t>
            </a:r>
            <a:r>
              <a:rPr lang="tr-TR" dirty="0" err="1"/>
              <a:t>VIN’in</a:t>
            </a:r>
            <a:r>
              <a:rPr lang="tr-TR" dirty="0"/>
              <a:t> gerçekten </a:t>
            </a:r>
            <a:r>
              <a:rPr lang="tr-TR" dirty="0" err="1"/>
              <a:t>genellenebilir</a:t>
            </a:r>
            <a:r>
              <a:rPr lang="tr-TR" dirty="0"/>
              <a:t> bir planlama yöntemi öğrenip öğrenmediğini test etmek.</a:t>
            </a:r>
            <a:br>
              <a:rPr lang="tr-TR" dirty="0"/>
            </a:br>
            <a:r>
              <a:rPr lang="tr-TR" dirty="0"/>
              <a:t>Yani model sadece eğitim verisine mi uyuyor yoksa farklı ortamlarda da çalışabiliyor mu bunu inceliyoruz.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C7C5B-4A3C-4977-AE81-15EA38719C52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7781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Makale modelin </a:t>
            </a:r>
            <a:r>
              <a:rPr lang="tr-TR" dirty="0" err="1"/>
              <a:t>planning</a:t>
            </a:r>
            <a:r>
              <a:rPr lang="tr-TR" dirty="0"/>
              <a:t> öğrenebildiğini iddia ediyor ama sadece aynı dağılımda test ediyor.</a:t>
            </a:r>
            <a:br>
              <a:rPr lang="tr-TR" dirty="0"/>
            </a:br>
            <a:r>
              <a:rPr lang="tr-TR" dirty="0"/>
              <a:t>Benim yaptığım </a:t>
            </a:r>
            <a:r>
              <a:rPr lang="tr-TR" dirty="0" err="1"/>
              <a:t>extension</a:t>
            </a:r>
            <a:r>
              <a:rPr lang="tr-TR" dirty="0"/>
              <a:t>, modelin gerçekten </a:t>
            </a:r>
            <a:r>
              <a:rPr lang="tr-TR" dirty="0" err="1"/>
              <a:t>genellenebilir</a:t>
            </a:r>
            <a:r>
              <a:rPr lang="tr-TR" dirty="0"/>
              <a:t> bir </a:t>
            </a:r>
            <a:r>
              <a:rPr lang="tr-TR" dirty="0" err="1"/>
              <a:t>planning</a:t>
            </a:r>
            <a:r>
              <a:rPr lang="tr-TR" dirty="0"/>
              <a:t> öğrenip öğrenmediğini test ediyor.</a:t>
            </a:r>
            <a:br>
              <a:rPr lang="tr-TR" dirty="0"/>
            </a:br>
            <a:r>
              <a:rPr lang="tr-TR" dirty="0"/>
              <a:t>Yani daha büyük ve daha karmaşık ortamlarda performansını inceliyorum.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C7C5B-4A3C-4977-AE81-15EA38719C52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912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“Öncelikle makaledeki temel sonuçları yeniden üretmeyi hedefliyorum.</a:t>
            </a:r>
            <a:br>
              <a:rPr lang="tr-TR" dirty="0"/>
            </a:br>
            <a:r>
              <a:rPr lang="tr-TR" dirty="0"/>
              <a:t>Özellikle </a:t>
            </a:r>
            <a:r>
              <a:rPr lang="tr-TR" dirty="0" err="1"/>
              <a:t>Figure</a:t>
            </a:r>
            <a:r>
              <a:rPr lang="tr-TR" dirty="0"/>
              <a:t> 3 ve </a:t>
            </a:r>
            <a:r>
              <a:rPr lang="tr-TR" dirty="0" err="1"/>
              <a:t>Table</a:t>
            </a:r>
            <a:r>
              <a:rPr lang="tr-TR" dirty="0"/>
              <a:t> 1’i yeniden oluşturacağım.</a:t>
            </a:r>
            <a:br>
              <a:rPr lang="tr-TR" dirty="0"/>
            </a:br>
            <a:r>
              <a:rPr lang="tr-TR" dirty="0"/>
              <a:t>Bu sonuçlar, modelin performansını değerlendirmek için </a:t>
            </a:r>
            <a:r>
              <a:rPr lang="tr-TR" dirty="0" err="1"/>
              <a:t>baseline</a:t>
            </a:r>
            <a:r>
              <a:rPr lang="tr-TR" dirty="0"/>
              <a:t> olarak kullanılacak.”</a:t>
            </a:r>
          </a:p>
          <a:p>
            <a:r>
              <a:rPr lang="tr-TR" dirty="0"/>
              <a:t>Modeli </a:t>
            </a:r>
            <a:r>
              <a:rPr lang="tr-TR" dirty="0" err="1"/>
              <a:t>PyTorch</a:t>
            </a:r>
            <a:r>
              <a:rPr lang="tr-TR" dirty="0"/>
              <a:t> </a:t>
            </a:r>
            <a:r>
              <a:rPr lang="tr-TR" dirty="0" err="1"/>
              <a:t>implementasyonu</a:t>
            </a:r>
            <a:r>
              <a:rPr lang="tr-TR" dirty="0"/>
              <a:t> üzerinden çalıştırdım.</a:t>
            </a:r>
            <a:br>
              <a:rPr lang="tr-TR" dirty="0"/>
            </a:br>
            <a:r>
              <a:rPr lang="tr-TR" dirty="0"/>
              <a:t>Deneyleri kendi bilgisayarımda ve gerektiğinde </a:t>
            </a:r>
            <a:r>
              <a:rPr lang="tr-TR" dirty="0" err="1"/>
              <a:t>Colab</a:t>
            </a:r>
            <a:r>
              <a:rPr lang="tr-TR" dirty="0"/>
              <a:t> GPU üzerinde gerçekleştireceğim.</a:t>
            </a:r>
            <a:br>
              <a:rPr lang="tr-TR" dirty="0"/>
            </a:br>
            <a:r>
              <a:rPr lang="tr-TR" dirty="0"/>
              <a:t>Kodun çalıştığını doğruladım.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C7C5B-4A3C-4977-AE81-15EA38719C52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4717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modeli eğitim dağılımı dışındaki ortamlarda test edeceğim.</a:t>
            </a:r>
            <a:br>
              <a:rPr lang="tr-TR" dirty="0"/>
            </a:br>
            <a:r>
              <a:rPr lang="tr-TR" dirty="0"/>
              <a:t>İki ana değişkeni değiştireceğim: </a:t>
            </a:r>
            <a:r>
              <a:rPr lang="tr-TR" dirty="0" err="1"/>
              <a:t>map</a:t>
            </a:r>
            <a:r>
              <a:rPr lang="tr-TR" dirty="0"/>
              <a:t> boyutu ve engel yoğunluğu.</a:t>
            </a:r>
            <a:br>
              <a:rPr lang="tr-TR" dirty="0"/>
            </a:br>
            <a:r>
              <a:rPr lang="tr-TR" dirty="0"/>
              <a:t>Bu sayede modelin genelleme ve dayanıklılık performansını ölçebileceğim. </a:t>
            </a:r>
          </a:p>
          <a:p>
            <a:r>
              <a:rPr lang="tr-TR" dirty="0"/>
              <a:t>Değerlendirme için makaledeki metrikleri aynen kullanacağım.</a:t>
            </a:r>
            <a:br>
              <a:rPr lang="tr-TR" dirty="0"/>
            </a:br>
            <a:r>
              <a:rPr lang="tr-TR" dirty="0"/>
              <a:t>Bunlar </a:t>
            </a:r>
            <a:r>
              <a:rPr lang="tr-TR" dirty="0" err="1"/>
              <a:t>success</a:t>
            </a:r>
            <a:r>
              <a:rPr lang="tr-TR" dirty="0"/>
              <a:t> rate ve </a:t>
            </a:r>
            <a:r>
              <a:rPr lang="tr-TR" dirty="0" err="1"/>
              <a:t>path</a:t>
            </a:r>
            <a:r>
              <a:rPr lang="tr-TR" dirty="0"/>
              <a:t> </a:t>
            </a:r>
            <a:r>
              <a:rPr lang="tr-TR" dirty="0" err="1"/>
              <a:t>length</a:t>
            </a:r>
            <a:r>
              <a:rPr lang="tr-TR" dirty="0"/>
              <a:t> gibi ölçütlerdir.</a:t>
            </a:r>
            <a:br>
              <a:rPr lang="tr-TR" dirty="0"/>
            </a:br>
            <a:r>
              <a:rPr lang="tr-TR" dirty="0"/>
              <a:t>Bu sayede sonuçları doğrudan makaledeki sonuçlarla karşılaştırabileceğim.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C7C5B-4A3C-4977-AE81-15EA38719C52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3649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Modelin eğitim dağılımına yakın ortamlarda iyi performans göstermesini bekliyorum.</a:t>
            </a:r>
            <a:br>
              <a:rPr lang="tr-TR" dirty="0"/>
            </a:br>
            <a:r>
              <a:rPr lang="tr-TR" dirty="0"/>
              <a:t>Ancak </a:t>
            </a:r>
            <a:r>
              <a:rPr lang="tr-TR" dirty="0" err="1"/>
              <a:t>map</a:t>
            </a:r>
            <a:r>
              <a:rPr lang="tr-TR" dirty="0"/>
              <a:t> boyutu ve engel yoğunluğu arttıkça performansın düşmesi muhtemel.</a:t>
            </a:r>
            <a:br>
              <a:rPr lang="tr-TR" dirty="0"/>
            </a:br>
            <a:r>
              <a:rPr lang="tr-TR" dirty="0"/>
              <a:t>Bu da </a:t>
            </a:r>
            <a:r>
              <a:rPr lang="tr-TR" dirty="0" err="1"/>
              <a:t>VIN’in</a:t>
            </a:r>
            <a:r>
              <a:rPr lang="tr-TR" dirty="0"/>
              <a:t> gerçekten </a:t>
            </a:r>
            <a:r>
              <a:rPr lang="tr-TR" dirty="0" err="1"/>
              <a:t>genellenebilir</a:t>
            </a:r>
            <a:r>
              <a:rPr lang="tr-TR" dirty="0"/>
              <a:t> olup olmadığını ortaya koyacak.</a:t>
            </a:r>
          </a:p>
          <a:p>
            <a:r>
              <a:rPr lang="tr-TR" dirty="0" err="1"/>
              <a:t>VIN’de</a:t>
            </a:r>
            <a:r>
              <a:rPr lang="tr-TR" dirty="0"/>
              <a:t> bilgi yayılımı </a:t>
            </a:r>
            <a:r>
              <a:rPr lang="tr-TR" dirty="0" err="1"/>
              <a:t>iteration</a:t>
            </a:r>
            <a:r>
              <a:rPr lang="tr-TR" dirty="0"/>
              <a:t> sayısına bağlı.</a:t>
            </a:r>
            <a:br>
              <a:rPr lang="tr-TR" dirty="0"/>
            </a:br>
            <a:r>
              <a:rPr lang="tr-TR" dirty="0"/>
              <a:t>Küçük </a:t>
            </a:r>
            <a:r>
              <a:rPr lang="tr-TR" dirty="0" err="1"/>
              <a:t>map’lerde</a:t>
            </a:r>
            <a:r>
              <a:rPr lang="tr-TR" dirty="0"/>
              <a:t> az </a:t>
            </a:r>
            <a:r>
              <a:rPr lang="tr-TR" dirty="0" err="1"/>
              <a:t>iteration</a:t>
            </a:r>
            <a:r>
              <a:rPr lang="tr-TR" dirty="0"/>
              <a:t> yeterli ama </a:t>
            </a:r>
            <a:r>
              <a:rPr lang="tr-TR" dirty="0" err="1"/>
              <a:t>map</a:t>
            </a:r>
            <a:r>
              <a:rPr lang="tr-TR" dirty="0"/>
              <a:t> büyüdükçe hedef bilgisinin tüm </a:t>
            </a:r>
            <a:r>
              <a:rPr lang="tr-TR" dirty="0" err="1"/>
              <a:t>grid’e</a:t>
            </a:r>
            <a:r>
              <a:rPr lang="tr-TR" dirty="0"/>
              <a:t> yayılması zorlaşıyor.</a:t>
            </a:r>
            <a:br>
              <a:rPr lang="tr-TR" dirty="0"/>
            </a:br>
            <a:r>
              <a:rPr lang="tr-TR" dirty="0"/>
              <a:t>Bu yüzden model daha büyük ortamlarda zorlanabilir.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C7C5B-4A3C-4977-AE81-15EA38719C52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4894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70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9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15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3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7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5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9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26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3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9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3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02.0286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kentsommer/pytorch-value-iteration-network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entsommer/pytorch-value-iteration-network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E9D3906-2326-41A8-81ED-03D3A38FB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98FDB75-8534-4735-AF49-9D2EAF7D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4EF532-641A-4CC5-A071-83BEEC207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8502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08D9447-9717-6D9A-31C3-8AC9FE58B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879" y="891973"/>
            <a:ext cx="7747502" cy="3243995"/>
          </a:xfrm>
        </p:spPr>
        <p:txBody>
          <a:bodyPr>
            <a:normAutofit/>
          </a:bodyPr>
          <a:lstStyle/>
          <a:p>
            <a:pPr algn="l"/>
            <a:r>
              <a:rPr lang="en-US" sz="4100" b="1" dirty="0">
                <a:latin typeface="Abadi" panose="020B0604020104020204" pitchFamily="34" charset="-94"/>
                <a:cs typeface="Arial" panose="020B0604020202020204" pitchFamily="34" charset="0"/>
              </a:rPr>
              <a:t>Generalization and Robustness Evaluation of Value Iteration Networks for </a:t>
            </a:r>
            <a:r>
              <a:rPr lang="tr-TR" sz="4100" b="1" dirty="0">
                <a:latin typeface="Abadi" panose="020B0604020104020204" pitchFamily="34" charset="-94"/>
                <a:cs typeface="Arial" panose="020B0604020202020204" pitchFamily="34" charset="0"/>
              </a:rPr>
              <a:t>PATH</a:t>
            </a:r>
            <a:r>
              <a:rPr lang="en-US" sz="4100" b="1" dirty="0">
                <a:latin typeface="Abadi" panose="020B0604020104020204" pitchFamily="34" charset="-94"/>
                <a:cs typeface="Arial" panose="020B0604020202020204" pitchFamily="34" charset="0"/>
              </a:rPr>
              <a:t> Planning</a:t>
            </a:r>
            <a:endParaRPr lang="tr-TR" sz="4100" b="1" dirty="0">
              <a:latin typeface="Abadi" panose="020B0604020104020204" pitchFamily="34" charset="-94"/>
              <a:cs typeface="Arial" panose="020B0604020202020204" pitchFamily="34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ACB8093-451B-8A19-E182-4D5B2B574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6020" y="5286860"/>
            <a:ext cx="9112404" cy="1018021"/>
          </a:xfrm>
        </p:spPr>
        <p:txBody>
          <a:bodyPr anchor="ctr">
            <a:normAutofit/>
          </a:bodyPr>
          <a:lstStyle/>
          <a:p>
            <a:pPr algn="r"/>
            <a:r>
              <a:rPr lang="tr-TR" dirty="0">
                <a:latin typeface="Abadi" panose="020B0604020104020204" pitchFamily="34" charset="-94"/>
              </a:rPr>
              <a:t>Gözde körpe – n25124582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0"/>
            <a:ext cx="5857239" cy="1437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0A4F542-D561-4AFB-8321-EB900BAF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94340" y="-1"/>
            <a:ext cx="1538837" cy="48501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C10EA2-1BD8-4267-AA7D-AB8CCA53C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37695" y="3096792"/>
            <a:ext cx="4754303" cy="174076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B04B14B-9533-46E5-A48D-58ECB1B40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202029" y="-12624"/>
            <a:ext cx="2103717" cy="485017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498840" y="0"/>
            <a:ext cx="3693158" cy="165336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341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323" y="-5553"/>
            <a:ext cx="8860678" cy="687330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229836 w 5905812"/>
              <a:gd name="connsiteY0" fmla="*/ 0 h 6888661"/>
              <a:gd name="connsiteX1" fmla="*/ 5905812 w 5905812"/>
              <a:gd name="connsiteY1" fmla="*/ 11953 h 6888661"/>
              <a:gd name="connsiteX2" fmla="*/ 5905812 w 5905812"/>
              <a:gd name="connsiteY2" fmla="*/ 6869951 h 6888661"/>
              <a:gd name="connsiteX3" fmla="*/ 0 w 5905812"/>
              <a:gd name="connsiteY3" fmla="*/ 6888661 h 6888661"/>
              <a:gd name="connsiteX4" fmla="*/ 1229836 w 5905812"/>
              <a:gd name="connsiteY4" fmla="*/ 0 h 6888661"/>
              <a:gd name="connsiteX0" fmla="*/ 1156550 w 5832526"/>
              <a:gd name="connsiteY0" fmla="*/ 0 h 6883466"/>
              <a:gd name="connsiteX1" fmla="*/ 5832526 w 5832526"/>
              <a:gd name="connsiteY1" fmla="*/ 11953 h 6883466"/>
              <a:gd name="connsiteX2" fmla="*/ 5832526 w 5832526"/>
              <a:gd name="connsiteY2" fmla="*/ 6869951 h 6883466"/>
              <a:gd name="connsiteX3" fmla="*/ 0 w 5832526"/>
              <a:gd name="connsiteY3" fmla="*/ 6883466 h 6883466"/>
              <a:gd name="connsiteX4" fmla="*/ 1156550 w 5832526"/>
              <a:gd name="connsiteY4" fmla="*/ 0 h 6883466"/>
              <a:gd name="connsiteX0" fmla="*/ 1104130 w 5780106"/>
              <a:gd name="connsiteY0" fmla="*/ 0 h 6873306"/>
              <a:gd name="connsiteX1" fmla="*/ 5780106 w 5780106"/>
              <a:gd name="connsiteY1" fmla="*/ 11953 h 6873306"/>
              <a:gd name="connsiteX2" fmla="*/ 5780106 w 5780106"/>
              <a:gd name="connsiteY2" fmla="*/ 6869951 h 6873306"/>
              <a:gd name="connsiteX3" fmla="*/ 0 w 5780106"/>
              <a:gd name="connsiteY3" fmla="*/ 6873306 h 6873306"/>
              <a:gd name="connsiteX4" fmla="*/ 1104130 w 5780106"/>
              <a:gd name="connsiteY4" fmla="*/ 0 h 6873306"/>
              <a:gd name="connsiteX0" fmla="*/ 1064815 w 5740791"/>
              <a:gd name="connsiteY0" fmla="*/ 0 h 6869951"/>
              <a:gd name="connsiteX1" fmla="*/ 5740791 w 5740791"/>
              <a:gd name="connsiteY1" fmla="*/ 11953 h 6869951"/>
              <a:gd name="connsiteX2" fmla="*/ 5740791 w 5740791"/>
              <a:gd name="connsiteY2" fmla="*/ 6869951 h 6869951"/>
              <a:gd name="connsiteX3" fmla="*/ 0 w 5740791"/>
              <a:gd name="connsiteY3" fmla="*/ 6863146 h 6869951"/>
              <a:gd name="connsiteX4" fmla="*/ 1064815 w 5740791"/>
              <a:gd name="connsiteY4" fmla="*/ 0 h 6869951"/>
              <a:gd name="connsiteX0" fmla="*/ 1038605 w 5714581"/>
              <a:gd name="connsiteY0" fmla="*/ 0 h 6873306"/>
              <a:gd name="connsiteX1" fmla="*/ 5714581 w 5714581"/>
              <a:gd name="connsiteY1" fmla="*/ 11953 h 6873306"/>
              <a:gd name="connsiteX2" fmla="*/ 5714581 w 5714581"/>
              <a:gd name="connsiteY2" fmla="*/ 6869951 h 6873306"/>
              <a:gd name="connsiteX3" fmla="*/ 0 w 5714581"/>
              <a:gd name="connsiteY3" fmla="*/ 6873306 h 6873306"/>
              <a:gd name="connsiteX4" fmla="*/ 1038605 w 5714581"/>
              <a:gd name="connsiteY4" fmla="*/ 0 h 6873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4581" h="6873306">
                <a:moveTo>
                  <a:pt x="1038605" y="0"/>
                </a:moveTo>
                <a:lnTo>
                  <a:pt x="5714581" y="11953"/>
                </a:lnTo>
                <a:lnTo>
                  <a:pt x="5714581" y="6869951"/>
                </a:lnTo>
                <a:lnTo>
                  <a:pt x="0" y="6873306"/>
                </a:lnTo>
                <a:lnTo>
                  <a:pt x="103860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9F31FB0-4D12-B193-6FF9-92D92B82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675167"/>
            <a:ext cx="3971261" cy="4064174"/>
          </a:xfrm>
        </p:spPr>
        <p:txBody>
          <a:bodyPr anchor="t">
            <a:normAutofit/>
          </a:bodyPr>
          <a:lstStyle/>
          <a:p>
            <a:r>
              <a:rPr lang="tr-TR" dirty="0">
                <a:latin typeface="Abadi" panose="020B0604020104020204" pitchFamily="34" charset="-94"/>
              </a:rPr>
              <a:t>CONTENTS</a:t>
            </a:r>
          </a:p>
        </p:txBody>
      </p:sp>
      <p:graphicFrame>
        <p:nvGraphicFramePr>
          <p:cNvPr id="16" name="İçerik Yer Tutucusu 2">
            <a:extLst>
              <a:ext uri="{FF2B5EF4-FFF2-40B4-BE49-F238E27FC236}">
                <a16:creationId xmlns:a16="http://schemas.microsoft.com/office/drawing/2014/main" id="{6749A43E-E204-3E5D-0CBF-F02BBFE3EA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93026" y="533400"/>
          <a:ext cx="5883964" cy="5771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4894729"/>
            <a:ext cx="4206239" cy="196787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1373" y="0"/>
            <a:ext cx="463526" cy="691388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83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8CECB99A-E2AB-482F-A307-48795531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650"/>
            <a:ext cx="5676966" cy="6869953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30885" h="6869951">
                <a:moveTo>
                  <a:pt x="1754909" y="0"/>
                </a:moveTo>
                <a:lnTo>
                  <a:pt x="6430885" y="11953"/>
                </a:lnTo>
                <a:lnTo>
                  <a:pt x="6430885" y="6869951"/>
                </a:lnTo>
                <a:lnTo>
                  <a:pt x="0" y="6869951"/>
                </a:lnTo>
                <a:lnTo>
                  <a:pt x="175490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89FBC30-10D0-2F58-1E38-B53AD72F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87" y="782184"/>
            <a:ext cx="4839959" cy="3510553"/>
          </a:xfrm>
        </p:spPr>
        <p:txBody>
          <a:bodyPr anchor="t">
            <a:normAutofit/>
          </a:bodyPr>
          <a:lstStyle/>
          <a:p>
            <a:r>
              <a:rPr lang="tr-TR" dirty="0" err="1">
                <a:latin typeface="Abadi" panose="020B0604020104020204" pitchFamily="34" charset="-94"/>
              </a:rPr>
              <a:t>Selected</a:t>
            </a:r>
            <a:r>
              <a:rPr lang="tr-TR" dirty="0">
                <a:latin typeface="Abadi" panose="020B0604020104020204" pitchFamily="34" charset="-94"/>
              </a:rPr>
              <a:t> </a:t>
            </a:r>
            <a:r>
              <a:rPr lang="tr-TR" dirty="0" err="1">
                <a:latin typeface="Abadi" panose="020B0604020104020204" pitchFamily="34" charset="-94"/>
              </a:rPr>
              <a:t>Paper</a:t>
            </a:r>
            <a:r>
              <a:rPr lang="tr-TR" dirty="0">
                <a:latin typeface="Abadi" panose="020B0604020104020204" pitchFamily="34" charset="-94"/>
              </a:rPr>
              <a:t> - Value </a:t>
            </a:r>
            <a:r>
              <a:rPr lang="tr-TR" dirty="0" err="1">
                <a:latin typeface="Abadi" panose="020B0604020104020204" pitchFamily="34" charset="-94"/>
              </a:rPr>
              <a:t>ıteratıon</a:t>
            </a:r>
            <a:r>
              <a:rPr lang="tr-TR" dirty="0">
                <a:latin typeface="Abadi" panose="020B0604020104020204" pitchFamily="34" charset="-94"/>
              </a:rPr>
              <a:t> </a:t>
            </a:r>
            <a:r>
              <a:rPr lang="tr-TR" dirty="0" err="1">
                <a:latin typeface="Abadi" panose="020B0604020104020204" pitchFamily="34" charset="-94"/>
              </a:rPr>
              <a:t>networks</a:t>
            </a:r>
            <a:endParaRPr lang="tr-TR" dirty="0">
              <a:latin typeface="Abadi" panose="020B0604020104020204" pitchFamily="34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A01CB58-E1F6-746A-3C49-C3CB5C17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753" y="533400"/>
            <a:ext cx="5458046" cy="57912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dirty="0"/>
              <a:t>Aviv Tamar, </a:t>
            </a:r>
            <a:r>
              <a:rPr lang="tr-TR" dirty="0" err="1"/>
              <a:t>Yi</a:t>
            </a:r>
            <a:r>
              <a:rPr lang="tr-TR" dirty="0"/>
              <a:t> </a:t>
            </a:r>
            <a:r>
              <a:rPr lang="tr-TR" dirty="0" err="1"/>
              <a:t>Wu</a:t>
            </a:r>
            <a:r>
              <a:rPr lang="tr-TR" dirty="0"/>
              <a:t>, </a:t>
            </a:r>
            <a:r>
              <a:rPr lang="tr-TR" dirty="0" err="1"/>
              <a:t>Garrett</a:t>
            </a:r>
            <a:r>
              <a:rPr lang="tr-TR" dirty="0"/>
              <a:t> Thomas, </a:t>
            </a:r>
            <a:r>
              <a:rPr lang="tr-TR" dirty="0" err="1"/>
              <a:t>Sergey</a:t>
            </a:r>
            <a:r>
              <a:rPr lang="tr-TR" dirty="0"/>
              <a:t> </a:t>
            </a:r>
            <a:r>
              <a:rPr lang="tr-TR" dirty="0" err="1"/>
              <a:t>Levine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Pieter</a:t>
            </a:r>
            <a:r>
              <a:rPr lang="tr-TR" dirty="0"/>
              <a:t> </a:t>
            </a:r>
            <a:r>
              <a:rPr lang="tr-TR" dirty="0" err="1"/>
              <a:t>Abbeel</a:t>
            </a:r>
            <a:r>
              <a:rPr lang="tr-TR" dirty="0"/>
              <a:t>. 2016. Value </a:t>
            </a:r>
            <a:r>
              <a:rPr lang="tr-TR" dirty="0" err="1"/>
              <a:t>iteration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. </a:t>
            </a:r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dirty="0" err="1"/>
              <a:t>Proceedings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30th International Conference on </a:t>
            </a:r>
            <a:r>
              <a:rPr lang="tr-TR" dirty="0" err="1"/>
              <a:t>Neural</a:t>
            </a:r>
            <a:r>
              <a:rPr lang="tr-TR" dirty="0"/>
              <a:t> Information </a:t>
            </a:r>
            <a:r>
              <a:rPr lang="tr-TR" dirty="0" err="1"/>
              <a:t>Processing</a:t>
            </a:r>
            <a:r>
              <a:rPr lang="tr-TR" dirty="0"/>
              <a:t> </a:t>
            </a:r>
            <a:r>
              <a:rPr lang="tr-TR" dirty="0" err="1"/>
              <a:t>Systems</a:t>
            </a:r>
            <a:r>
              <a:rPr lang="tr-TR" dirty="0"/>
              <a:t> (NIPS'16). </a:t>
            </a:r>
            <a:r>
              <a:rPr lang="tr-TR" dirty="0" err="1"/>
              <a:t>Curran</a:t>
            </a:r>
            <a:r>
              <a:rPr lang="tr-TR" dirty="0"/>
              <a:t> </a:t>
            </a:r>
            <a:r>
              <a:rPr lang="tr-TR" dirty="0" err="1"/>
              <a:t>Associates</a:t>
            </a:r>
            <a:r>
              <a:rPr lang="tr-TR" dirty="0"/>
              <a:t> </a:t>
            </a:r>
            <a:r>
              <a:rPr lang="tr-TR" dirty="0" err="1"/>
              <a:t>Inc</a:t>
            </a:r>
            <a:r>
              <a:rPr lang="tr-TR" dirty="0"/>
              <a:t>., </a:t>
            </a:r>
            <a:r>
              <a:rPr lang="tr-TR" dirty="0" err="1"/>
              <a:t>Red</a:t>
            </a:r>
            <a:r>
              <a:rPr lang="tr-TR" dirty="0"/>
              <a:t> </a:t>
            </a:r>
            <a:r>
              <a:rPr lang="tr-TR" dirty="0" err="1"/>
              <a:t>Hook</a:t>
            </a:r>
            <a:r>
              <a:rPr lang="tr-TR" dirty="0"/>
              <a:t>, NY, USA, 2154–2162. (</a:t>
            </a:r>
            <a:r>
              <a:rPr lang="tr-TR" dirty="0">
                <a:hlinkClick r:id="rId3"/>
              </a:rPr>
              <a:t>link </a:t>
            </a:r>
            <a:r>
              <a:rPr lang="tr-TR" dirty="0" err="1">
                <a:hlinkClick r:id="rId3"/>
              </a:rPr>
              <a:t>to</a:t>
            </a:r>
            <a:r>
              <a:rPr lang="tr-TR" dirty="0">
                <a:hlinkClick r:id="rId3"/>
              </a:rPr>
              <a:t> </a:t>
            </a:r>
            <a:r>
              <a:rPr lang="tr-TR" dirty="0" err="1">
                <a:hlinkClick r:id="rId3"/>
              </a:rPr>
              <a:t>the</a:t>
            </a:r>
            <a:r>
              <a:rPr lang="tr-TR" dirty="0">
                <a:hlinkClick r:id="rId3"/>
              </a:rPr>
              <a:t> </a:t>
            </a:r>
            <a:r>
              <a:rPr lang="tr-TR" dirty="0" err="1">
                <a:hlinkClick r:id="rId3"/>
              </a:rPr>
              <a:t>paper</a:t>
            </a:r>
            <a:r>
              <a:rPr lang="tr-TR" dirty="0"/>
              <a:t>) (</a:t>
            </a:r>
            <a:r>
              <a:rPr lang="tr-TR" dirty="0" err="1">
                <a:hlinkClick r:id="rId4"/>
              </a:rPr>
              <a:t>github</a:t>
            </a:r>
            <a:r>
              <a:rPr lang="tr-TR" dirty="0">
                <a:hlinkClick r:id="rId4"/>
              </a:rPr>
              <a:t> link</a:t>
            </a:r>
            <a:r>
              <a:rPr lang="tr-TR" dirty="0"/>
              <a:t>)</a:t>
            </a:r>
          </a:p>
          <a:p>
            <a:endParaRPr lang="tr-T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A66062-E0FE-4EE7-9840-EC05B87A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1" y="4541520"/>
            <a:ext cx="5895754" cy="23105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2988236"/>
            <a:ext cx="2418079" cy="388769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310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0C4FC4-DD0A-1F03-405E-2F41A85E9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61531"/>
            <a:ext cx="9906000" cy="1124981"/>
          </a:xfrm>
        </p:spPr>
        <p:txBody>
          <a:bodyPr/>
          <a:lstStyle/>
          <a:p>
            <a:r>
              <a:rPr lang="tr-TR" dirty="0">
                <a:latin typeface="Abadi" panose="020B0604020104020204" pitchFamily="34" charset="-94"/>
              </a:rPr>
              <a:t> CORE CONTRIBUTION        RELEVANCE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AEC441-7CBF-B9AA-01FF-60BB62C65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277380"/>
            <a:ext cx="4753356" cy="4756598"/>
          </a:xfrm>
        </p:spPr>
        <p:txBody>
          <a:bodyPr/>
          <a:lstStyle/>
          <a:p>
            <a:r>
              <a:rPr lang="tr-TR" b="1" dirty="0">
                <a:solidFill>
                  <a:schemeClr val="accent4">
                    <a:lumMod val="75000"/>
                  </a:schemeClr>
                </a:solidFill>
              </a:rPr>
              <a:t>Problem: </a:t>
            </a:r>
            <a:r>
              <a:rPr lang="en-US" dirty="0"/>
              <a:t>Classical planning algorithms (Value Iteration, A*) require </a:t>
            </a:r>
            <a:r>
              <a:rPr lang="en-US" b="1" dirty="0"/>
              <a:t>explicit models of the environment</a:t>
            </a:r>
            <a:r>
              <a:rPr lang="en-US" dirty="0"/>
              <a:t>.</a:t>
            </a:r>
            <a:r>
              <a:rPr lang="tr-TR" dirty="0"/>
              <a:t> </a:t>
            </a:r>
            <a:r>
              <a:rPr lang="en-US" dirty="0"/>
              <a:t>However, many modern applications require </a:t>
            </a:r>
            <a:r>
              <a:rPr lang="en-US" b="1" dirty="0"/>
              <a:t>learning-based planners</a:t>
            </a:r>
            <a:r>
              <a:rPr lang="en-US" dirty="0"/>
              <a:t>.</a:t>
            </a:r>
          </a:p>
          <a:p>
            <a:r>
              <a:rPr lang="en-US" dirty="0"/>
              <a:t>Value Iteration Networks embed the </a:t>
            </a:r>
            <a:r>
              <a:rPr lang="en-US" b="1" dirty="0"/>
              <a:t>value iteration planning algorithm inside a neural network</a:t>
            </a:r>
            <a:r>
              <a:rPr lang="en-US" dirty="0"/>
              <a:t>.</a:t>
            </a:r>
            <a:r>
              <a:rPr lang="tr-TR" dirty="0"/>
              <a:t> </a:t>
            </a:r>
            <a:r>
              <a:rPr lang="en-US" dirty="0"/>
              <a:t>A neural network can learn </a:t>
            </a:r>
            <a:r>
              <a:rPr lang="en-US" b="1" dirty="0"/>
              <a:t>a reusable planning module</a:t>
            </a:r>
            <a:r>
              <a:rPr lang="en-US" dirty="0"/>
              <a:t> that generalizes across environments.</a:t>
            </a:r>
            <a:endParaRPr lang="tr-TR" dirty="0"/>
          </a:p>
          <a:p>
            <a:endParaRPr lang="tr-TR" dirty="0"/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E21F2D1E-C56D-AECD-1DC7-06E2124BC133}"/>
              </a:ext>
            </a:extLst>
          </p:cNvPr>
          <p:cNvSpPr txBox="1">
            <a:spLocks/>
          </p:cNvSpPr>
          <p:nvPr/>
        </p:nvSpPr>
        <p:spPr>
          <a:xfrm>
            <a:off x="6181344" y="1277380"/>
            <a:ext cx="5238750" cy="47565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It combines </a:t>
            </a:r>
            <a:r>
              <a:rPr lang="en-US" sz="2600" b="1" dirty="0"/>
              <a:t>reinforcement learning and planning</a:t>
            </a:r>
            <a:endParaRPr lang="tr-TR" sz="2600" b="1" dirty="0"/>
          </a:p>
          <a:p>
            <a:r>
              <a:rPr lang="en-US" sz="2600" dirty="0"/>
              <a:t> It introduces </a:t>
            </a:r>
            <a:r>
              <a:rPr lang="en-US" sz="2600" b="1" dirty="0"/>
              <a:t>differentiable planning modules</a:t>
            </a:r>
            <a:endParaRPr lang="tr-TR" sz="2600" b="1" dirty="0"/>
          </a:p>
          <a:p>
            <a:r>
              <a:rPr lang="en-US" sz="2600" dirty="0"/>
              <a:t>It demonstrates how neural networks can </a:t>
            </a:r>
            <a:r>
              <a:rPr lang="en-US" sz="2600" b="1" dirty="0"/>
              <a:t>learn classical algorithms</a:t>
            </a:r>
            <a:endParaRPr lang="en-US" sz="2600" dirty="0"/>
          </a:p>
          <a:p>
            <a:r>
              <a:rPr lang="en-US" sz="2600" dirty="0"/>
              <a:t>VIN is an early example of </a:t>
            </a:r>
            <a:r>
              <a:rPr lang="en-US" sz="2600" b="1" dirty="0"/>
              <a:t>learning-based planning architectures</a:t>
            </a:r>
            <a:r>
              <a:rPr lang="en-US" sz="2600" dirty="0"/>
              <a:t>, which later influenced:</a:t>
            </a:r>
          </a:p>
          <a:p>
            <a:r>
              <a:rPr lang="en-US" sz="2600" dirty="0"/>
              <a:t>differentiable planning networks</a:t>
            </a:r>
          </a:p>
          <a:p>
            <a:r>
              <a:rPr lang="en-US" sz="2600" dirty="0"/>
              <a:t>neural planners</a:t>
            </a:r>
          </a:p>
          <a:p>
            <a:r>
              <a:rPr lang="en-US" sz="2600" dirty="0"/>
              <a:t>model-based RL.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63045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273C18B-33A8-5673-C3F1-1CC4E54B8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0680" y="1123951"/>
            <a:ext cx="10610639" cy="420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80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1D8699-067D-4768-9F87-3E302B379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25B19F9-196F-2F49-752C-6D79775E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961" y="461149"/>
            <a:ext cx="4358640" cy="834657"/>
          </a:xfrm>
        </p:spPr>
        <p:txBody>
          <a:bodyPr>
            <a:normAutofit/>
          </a:bodyPr>
          <a:lstStyle/>
          <a:p>
            <a:r>
              <a:rPr lang="tr-TR" dirty="0" err="1">
                <a:latin typeface="Abadi" panose="020B0604020104020204" pitchFamily="34" charset="-94"/>
              </a:rPr>
              <a:t>Related</a:t>
            </a:r>
            <a:r>
              <a:rPr lang="tr-TR" dirty="0">
                <a:latin typeface="Abadi" panose="020B0604020104020204" pitchFamily="34" charset="-94"/>
              </a:rPr>
              <a:t> </a:t>
            </a:r>
            <a:r>
              <a:rPr lang="tr-TR" dirty="0" err="1">
                <a:latin typeface="Abadi" panose="020B0604020104020204" pitchFamily="34" charset="-94"/>
              </a:rPr>
              <a:t>Work</a:t>
            </a:r>
            <a:endParaRPr lang="tr-TR" dirty="0">
              <a:latin typeface="Abadi" panose="020B0604020104020204" pitchFamily="34" charset="-9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A66062-E0FE-4EE7-9840-EC05B87A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4358640" cy="5334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-10633"/>
            <a:ext cx="1398104" cy="4450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087726-EFA7-48B6-8527-80902BB55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282519" y="-10633"/>
            <a:ext cx="1909481" cy="50547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4CA14D-52DC-4F3C-A1CE-235B99A17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02400" y="0"/>
            <a:ext cx="5689600" cy="163342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718313"/>
            <a:ext cx="5357757" cy="115032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950BAB-F521-4A52-A263-D10578977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779565" y="6033977"/>
            <a:ext cx="3412435" cy="83465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CF09FB1B-7A7F-BEF0-8B20-72436C8F207F}"/>
              </a:ext>
            </a:extLst>
          </p:cNvPr>
          <p:cNvSpPr/>
          <p:nvPr/>
        </p:nvSpPr>
        <p:spPr>
          <a:xfrm>
            <a:off x="1257613" y="1648949"/>
            <a:ext cx="9165397" cy="1150320"/>
          </a:xfrm>
          <a:prstGeom prst="roundRect">
            <a:avLst/>
          </a:prstGeom>
          <a:solidFill>
            <a:srgbClr val="CCD1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6144597-5F6C-76B3-F7FB-C8AB76993BDF}"/>
              </a:ext>
            </a:extLst>
          </p:cNvPr>
          <p:cNvSpPr txBox="1"/>
          <p:nvPr/>
        </p:nvSpPr>
        <p:spPr>
          <a:xfrm>
            <a:off x="1538595" y="1779884"/>
            <a:ext cx="8700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Value Iteration (Bellman, 1957)</a:t>
            </a:r>
            <a:r>
              <a:rPr lang="tr-TR" b="1" dirty="0">
                <a:solidFill>
                  <a:schemeClr val="accent1"/>
                </a:solidFill>
              </a:rPr>
              <a:t>: </a:t>
            </a:r>
            <a:r>
              <a:rPr lang="en-US" dirty="0"/>
              <a:t>Classical dynamic programming method for computing optimal policies in Markov Decision Processes. VIN builds directly on this idea by embedding the value iteration procedure into a neural network.</a:t>
            </a:r>
          </a:p>
          <a:p>
            <a:endParaRPr lang="tr-TR" dirty="0"/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CCE46F58-8BE7-46B1-069C-F11E3E2AC68A}"/>
              </a:ext>
            </a:extLst>
          </p:cNvPr>
          <p:cNvSpPr/>
          <p:nvPr/>
        </p:nvSpPr>
        <p:spPr>
          <a:xfrm>
            <a:off x="1257613" y="3027050"/>
            <a:ext cx="9165397" cy="1150320"/>
          </a:xfrm>
          <a:prstGeom prst="roundRect">
            <a:avLst/>
          </a:prstGeom>
          <a:solidFill>
            <a:srgbClr val="CCD1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197B9BF4-5833-8196-C329-885E2ADC1AE0}"/>
              </a:ext>
            </a:extLst>
          </p:cNvPr>
          <p:cNvSpPr txBox="1"/>
          <p:nvPr/>
        </p:nvSpPr>
        <p:spPr>
          <a:xfrm>
            <a:off x="1538595" y="3157985"/>
            <a:ext cx="8884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Deep Q-Network</a:t>
            </a:r>
            <a:r>
              <a:rPr lang="tr-TR" b="1" dirty="0">
                <a:solidFill>
                  <a:schemeClr val="accent1"/>
                </a:solidFill>
              </a:rPr>
              <a:t> (</a:t>
            </a:r>
            <a:r>
              <a:rPr lang="tr-TR" b="1" dirty="0" err="1">
                <a:solidFill>
                  <a:schemeClr val="accent1"/>
                </a:solidFill>
              </a:rPr>
              <a:t>Mnih</a:t>
            </a:r>
            <a:r>
              <a:rPr lang="tr-TR" b="1" dirty="0">
                <a:solidFill>
                  <a:schemeClr val="accent1"/>
                </a:solidFill>
              </a:rPr>
              <a:t> et al.,2015):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DQN is a model-free RL algorithm that uses a neural network to estimate the Q-value (expected future reward) for each action, but it lacks an internal mechanism to simulate environment transitions. </a:t>
            </a:r>
            <a:r>
              <a:rPr lang="tr-TR" dirty="0" err="1"/>
              <a:t>It</a:t>
            </a:r>
            <a:r>
              <a:rPr lang="tr-TR" dirty="0"/>
              <a:t> is </a:t>
            </a:r>
            <a:r>
              <a:rPr lang="tr-TR" dirty="0" err="1"/>
              <a:t>the</a:t>
            </a:r>
            <a:r>
              <a:rPr lang="tr-TR" dirty="0"/>
              <a:t> model-</a:t>
            </a:r>
            <a:r>
              <a:rPr lang="tr-TR" dirty="0" err="1"/>
              <a:t>free</a:t>
            </a:r>
            <a:r>
              <a:rPr lang="tr-TR" dirty="0"/>
              <a:t>(</a:t>
            </a:r>
            <a:r>
              <a:rPr lang="tr-TR" dirty="0" err="1"/>
              <a:t>learning-based</a:t>
            </a:r>
            <a:r>
              <a:rPr lang="tr-TR" dirty="0"/>
              <a:t>) </a:t>
            </a:r>
            <a:r>
              <a:rPr lang="tr-TR" dirty="0" err="1"/>
              <a:t>baseline</a:t>
            </a:r>
            <a:r>
              <a:rPr lang="tr-TR" dirty="0"/>
              <a:t> VIN </a:t>
            </a:r>
            <a:r>
              <a:rPr lang="tr-TR" dirty="0" err="1"/>
              <a:t>seeks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outperform</a:t>
            </a:r>
            <a:r>
              <a:rPr lang="tr-TR" dirty="0"/>
              <a:t>.</a:t>
            </a:r>
            <a:endParaRPr lang="en-US" dirty="0"/>
          </a:p>
          <a:p>
            <a:endParaRPr lang="tr-TR" dirty="0"/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C73C6058-ED59-623E-B194-FC86CD7499F9}"/>
              </a:ext>
            </a:extLst>
          </p:cNvPr>
          <p:cNvSpPr/>
          <p:nvPr/>
        </p:nvSpPr>
        <p:spPr>
          <a:xfrm>
            <a:off x="1257613" y="4468981"/>
            <a:ext cx="9165397" cy="1150320"/>
          </a:xfrm>
          <a:prstGeom prst="roundRect">
            <a:avLst/>
          </a:prstGeom>
          <a:solidFill>
            <a:srgbClr val="CCD1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8DA6F08D-7B80-BD75-2D52-353A2D179BCC}"/>
              </a:ext>
            </a:extLst>
          </p:cNvPr>
          <p:cNvSpPr txBox="1"/>
          <p:nvPr/>
        </p:nvSpPr>
        <p:spPr>
          <a:xfrm>
            <a:off x="1538595" y="4599916"/>
            <a:ext cx="8700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Gated Path Planning Networks (Lee et al., 2018)</a:t>
            </a:r>
            <a:r>
              <a:rPr lang="tr-TR" b="1" dirty="0">
                <a:solidFill>
                  <a:schemeClr val="accent1"/>
                </a:solidFill>
              </a:rPr>
              <a:t>: </a:t>
            </a:r>
            <a:r>
              <a:rPr lang="en-US" dirty="0"/>
              <a:t>GPPN improves VIN by replacing the value iteration module with gated recurrent units, addressing optimization difficulties in the original VIN architecture.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5610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3E0373C-BDE9-4FAA-892A-B226DD970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3">
            <a:extLst>
              <a:ext uri="{FF2B5EF4-FFF2-40B4-BE49-F238E27FC236}">
                <a16:creationId xmlns:a16="http://schemas.microsoft.com/office/drawing/2014/main" id="{FC2BFFFF-16DA-434F-B48D-28B53969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5BBE915-79F0-6A09-325A-C8D6C596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09" y="694490"/>
            <a:ext cx="3147936" cy="1631751"/>
          </a:xfrm>
        </p:spPr>
        <p:txBody>
          <a:bodyPr anchor="t">
            <a:noAutofit/>
          </a:bodyPr>
          <a:lstStyle/>
          <a:p>
            <a:r>
              <a:rPr lang="tr-TR" sz="3000" dirty="0">
                <a:latin typeface="Abadi" panose="020B0604020104020204" pitchFamily="34" charset="-94"/>
              </a:rPr>
              <a:t>Project </a:t>
            </a:r>
            <a:r>
              <a:rPr lang="tr-TR" sz="3000" dirty="0" err="1">
                <a:latin typeface="Abadi" panose="020B0604020104020204" pitchFamily="34" charset="-94"/>
              </a:rPr>
              <a:t>dırectıon</a:t>
            </a:r>
            <a:r>
              <a:rPr lang="tr-TR" sz="3000" dirty="0">
                <a:latin typeface="Abadi" panose="020B0604020104020204" pitchFamily="34" charset="-94"/>
              </a:rPr>
              <a:t> – </a:t>
            </a:r>
            <a:r>
              <a:rPr lang="tr-TR" sz="3000" dirty="0" err="1">
                <a:latin typeface="Abadi" panose="020B0604020104020204" pitchFamily="34" charset="-94"/>
              </a:rPr>
              <a:t>generalızatıon</a:t>
            </a:r>
            <a:r>
              <a:rPr lang="tr-TR" sz="3000" dirty="0">
                <a:latin typeface="Abadi" panose="020B0604020104020204" pitchFamily="34" charset="-94"/>
              </a:rPr>
              <a:t> &amp; </a:t>
            </a:r>
            <a:r>
              <a:rPr lang="tr-TR" sz="3000" dirty="0" err="1">
                <a:latin typeface="Abadi" panose="020B0604020104020204" pitchFamily="34" charset="-94"/>
              </a:rPr>
              <a:t>robustness</a:t>
            </a:r>
            <a:r>
              <a:rPr lang="tr-TR" sz="3000" dirty="0">
                <a:latin typeface="Abadi" panose="020B0604020104020204" pitchFamily="34" charset="-94"/>
              </a:rPr>
              <a:t> </a:t>
            </a:r>
            <a:r>
              <a:rPr lang="tr-TR" sz="3000" dirty="0" err="1">
                <a:latin typeface="Abadi" panose="020B0604020104020204" pitchFamily="34" charset="-94"/>
              </a:rPr>
              <a:t>evaluatıon</a:t>
            </a:r>
            <a:endParaRPr lang="tr-TR" sz="3000" dirty="0">
              <a:latin typeface="Abadi" panose="020B0604020104020204" pitchFamily="34" charset="-94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8EAD419-2D3B-4CD6-A841-F11CA0944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39456B-0913-9181-D6EE-70C2D23F5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792" y="533401"/>
            <a:ext cx="7721232" cy="4419600"/>
          </a:xfrm>
        </p:spPr>
        <p:txBody>
          <a:bodyPr anchor="ctr">
            <a:normAutofit/>
          </a:bodyPr>
          <a:lstStyle/>
          <a:p>
            <a:r>
              <a:rPr lang="en-US" sz="3200" dirty="0"/>
              <a:t>VIN is designed to learn a </a:t>
            </a:r>
            <a:r>
              <a:rPr lang="tr-TR" sz="3200" b="1" dirty="0" err="1">
                <a:solidFill>
                  <a:schemeClr val="accent1"/>
                </a:solidFill>
              </a:rPr>
              <a:t>generalizable</a:t>
            </a:r>
            <a:r>
              <a:rPr lang="en-US" sz="3200" b="1" dirty="0">
                <a:solidFill>
                  <a:schemeClr val="accent1"/>
                </a:solidFill>
              </a:rPr>
              <a:t> planning procedure.</a:t>
            </a:r>
          </a:p>
          <a:p>
            <a:r>
              <a:rPr lang="en-US" sz="3200" dirty="0"/>
              <a:t>If this is true, the learned planner should work not only on the training distribution but also on environments that are:</a:t>
            </a:r>
          </a:p>
          <a:p>
            <a:pPr lvl="1"/>
            <a:r>
              <a:rPr lang="en-US" sz="3200" dirty="0"/>
              <a:t>larger than the training maps</a:t>
            </a:r>
            <a:r>
              <a:rPr lang="tr-TR" sz="3200" dirty="0"/>
              <a:t> </a:t>
            </a:r>
          </a:p>
          <a:p>
            <a:pPr lvl="1"/>
            <a:r>
              <a:rPr lang="en-US" sz="3200" dirty="0"/>
              <a:t>more cluttered with obstacles</a:t>
            </a:r>
          </a:p>
          <a:p>
            <a:pPr marL="0" indent="0">
              <a:buNone/>
            </a:pPr>
            <a:r>
              <a:rPr lang="en-US" sz="3200" dirty="0"/>
              <a:t>Therefore, </a:t>
            </a:r>
            <a:r>
              <a:rPr lang="tr-TR" sz="3200" dirty="0" err="1"/>
              <a:t>this</a:t>
            </a:r>
            <a:r>
              <a:rPr lang="en-US" sz="3200" dirty="0"/>
              <a:t> project investigates:</a:t>
            </a:r>
          </a:p>
          <a:p>
            <a:pPr marL="0" indent="0">
              <a:buNone/>
            </a:pPr>
            <a:endParaRPr lang="tr-TR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01F68E3C-E1F1-8752-E048-3451AF8377D3}"/>
              </a:ext>
            </a:extLst>
          </p:cNvPr>
          <p:cNvSpPr txBox="1"/>
          <p:nvPr/>
        </p:nvSpPr>
        <p:spPr>
          <a:xfrm>
            <a:off x="2889504" y="4809293"/>
            <a:ext cx="838023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Does VIN generalize to larger and denser environments than those used in training?</a:t>
            </a:r>
            <a:endParaRPr lang="en-US" sz="3200" dirty="0">
              <a:solidFill>
                <a:schemeClr val="accent1"/>
              </a:solidFill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2698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E0373C-BDE9-4FAA-892A-B226DD970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FC2BFFFF-16DA-434F-B48D-28B53969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EAD419-2D3B-4CD6-A841-F11CA0944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25BB85-20AA-919E-80C4-B7B1081EF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792" y="533400"/>
            <a:ext cx="7723518" cy="579119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000" dirty="0"/>
              <a:t>The original paper evaluates VIN on </a:t>
            </a:r>
            <a:r>
              <a:rPr lang="en-US" sz="3000" dirty="0" err="1"/>
              <a:t>gridworld</a:t>
            </a:r>
            <a:r>
              <a:rPr lang="en-US" sz="3000" dirty="0"/>
              <a:t> maps </a:t>
            </a:r>
            <a:r>
              <a:rPr lang="en-US" sz="3000" b="1" dirty="0">
                <a:solidFill>
                  <a:schemeClr val="accent1"/>
                </a:solidFill>
              </a:rPr>
              <a:t>with fixed sizes and obstacle distributions</a:t>
            </a:r>
            <a:r>
              <a:rPr lang="en-US" sz="3000" dirty="0">
                <a:solidFill>
                  <a:schemeClr val="accent1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3000" dirty="0"/>
              <a:t>However, real planning systems must handle:</a:t>
            </a:r>
          </a:p>
          <a:p>
            <a:pPr lvl="1"/>
            <a:r>
              <a:rPr lang="en-US" sz="3000" dirty="0"/>
              <a:t> different map sizes</a:t>
            </a:r>
            <a:r>
              <a:rPr lang="tr-TR" sz="3000" dirty="0"/>
              <a:t> </a:t>
            </a:r>
          </a:p>
          <a:p>
            <a:pPr lvl="1"/>
            <a:r>
              <a:rPr lang="en-US" sz="3000" dirty="0"/>
              <a:t> varying obstacle densities</a:t>
            </a:r>
          </a:p>
          <a:p>
            <a:pPr marL="0" indent="0">
              <a:buNone/>
            </a:pPr>
            <a:r>
              <a:rPr lang="en-US" sz="3000" dirty="0"/>
              <a:t>Testing generalization and robustness allows us to:</a:t>
            </a:r>
          </a:p>
          <a:p>
            <a:r>
              <a:rPr lang="en-US" sz="3000" dirty="0"/>
              <a:t>directly evaluate the </a:t>
            </a:r>
            <a:r>
              <a:rPr lang="en-US" sz="3000" b="1" dirty="0">
                <a:solidFill>
                  <a:schemeClr val="accent1"/>
                </a:solidFill>
              </a:rPr>
              <a:t>core claim of the paper</a:t>
            </a:r>
            <a:endParaRPr lang="en-US" sz="3000" dirty="0">
              <a:solidFill>
                <a:schemeClr val="accent1"/>
              </a:solidFill>
            </a:endParaRPr>
          </a:p>
          <a:p>
            <a:r>
              <a:rPr lang="en-US" sz="3000" dirty="0"/>
              <a:t>keep the </a:t>
            </a:r>
            <a:r>
              <a:rPr lang="en-US" sz="3000" b="1" dirty="0">
                <a:solidFill>
                  <a:schemeClr val="accent1"/>
                </a:solidFill>
              </a:rPr>
              <a:t>same evaluation metrics</a:t>
            </a:r>
            <a:endParaRPr lang="en-US" sz="3000" dirty="0">
              <a:solidFill>
                <a:schemeClr val="accent1"/>
              </a:solidFill>
            </a:endParaRPr>
          </a:p>
          <a:p>
            <a:r>
              <a:rPr lang="en-US" sz="3000" dirty="0"/>
              <a:t>perform </a:t>
            </a:r>
            <a:r>
              <a:rPr lang="en-US" sz="3000" b="1" dirty="0">
                <a:solidFill>
                  <a:schemeClr val="accent1"/>
                </a:solidFill>
              </a:rPr>
              <a:t>quantitative comparison with the original results</a:t>
            </a:r>
            <a:endParaRPr lang="en-US" sz="3000" dirty="0">
              <a:solidFill>
                <a:schemeClr val="accent1"/>
              </a:solidFill>
            </a:endParaRPr>
          </a:p>
          <a:p>
            <a:endParaRPr lang="tr-TR" sz="3000" dirty="0"/>
          </a:p>
        </p:txBody>
      </p:sp>
    </p:spTree>
    <p:extLst>
      <p:ext uri="{BB962C8B-B14F-4D97-AF65-F5344CB8AC3E}">
        <p14:creationId xmlns:p14="http://schemas.microsoft.com/office/powerpoint/2010/main" val="14662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E9489D-F198-B1CA-623E-18B3B624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47" y="0"/>
            <a:ext cx="9906000" cy="856713"/>
          </a:xfrm>
        </p:spPr>
        <p:txBody>
          <a:bodyPr/>
          <a:lstStyle/>
          <a:p>
            <a:r>
              <a:rPr lang="tr-TR" dirty="0" err="1">
                <a:latin typeface="Abadi" panose="020B0604020104020204" pitchFamily="34" charset="0"/>
              </a:rPr>
              <a:t>Reproductıon</a:t>
            </a:r>
            <a:endParaRPr lang="tr-TR" dirty="0">
              <a:latin typeface="Abadi" panose="020B0604020104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10C39A5-76B6-AE0C-2B7D-81D50F324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6" y="798410"/>
            <a:ext cx="11471988" cy="6760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sz="3600" dirty="0"/>
              <a:t>T</a:t>
            </a:r>
            <a:r>
              <a:rPr lang="en-US" sz="3600" dirty="0"/>
              <a:t>he </a:t>
            </a:r>
            <a:r>
              <a:rPr lang="tr-TR" sz="3600" dirty="0" err="1"/>
              <a:t>key</a:t>
            </a:r>
            <a:r>
              <a:rPr lang="tr-TR" sz="3600" dirty="0"/>
              <a:t> </a:t>
            </a:r>
            <a:r>
              <a:rPr lang="tr-TR" sz="3600" dirty="0" err="1"/>
              <a:t>results</a:t>
            </a:r>
            <a:r>
              <a:rPr lang="tr-TR" sz="3600" dirty="0"/>
              <a:t> of </a:t>
            </a:r>
            <a:r>
              <a:rPr lang="en-US" sz="3600" dirty="0"/>
              <a:t> VIN experiments on </a:t>
            </a:r>
            <a:r>
              <a:rPr lang="en-US" sz="3600" dirty="0" err="1"/>
              <a:t>gridworld</a:t>
            </a:r>
            <a:r>
              <a:rPr lang="en-US" sz="3600" dirty="0"/>
              <a:t> planning tasks</a:t>
            </a:r>
            <a:r>
              <a:rPr lang="tr-TR" sz="3600" dirty="0"/>
              <a:t> </a:t>
            </a:r>
            <a:r>
              <a:rPr lang="tr-TR" sz="3600" dirty="0" err="1"/>
              <a:t>will</a:t>
            </a:r>
            <a:r>
              <a:rPr lang="tr-TR" sz="3600" dirty="0"/>
              <a:t> be </a:t>
            </a:r>
            <a:r>
              <a:rPr lang="tr-TR" sz="3600" dirty="0" err="1"/>
              <a:t>reproduced</a:t>
            </a:r>
            <a:r>
              <a:rPr lang="tr-TR" sz="3600" dirty="0"/>
              <a:t> </a:t>
            </a:r>
            <a:r>
              <a:rPr lang="tr-TR" sz="3600" dirty="0" err="1"/>
              <a:t>by</a:t>
            </a:r>
            <a:r>
              <a:rPr lang="tr-TR" sz="3600" dirty="0"/>
              <a:t> </a:t>
            </a:r>
            <a:r>
              <a:rPr lang="tr-TR" sz="3600" dirty="0" err="1"/>
              <a:t>using</a:t>
            </a:r>
            <a:r>
              <a:rPr lang="tr-TR" sz="3600" dirty="0"/>
              <a:t> </a:t>
            </a:r>
            <a:r>
              <a:rPr lang="tr-TR" sz="3600" dirty="0" err="1"/>
              <a:t>pytorch</a:t>
            </a:r>
            <a:r>
              <a:rPr lang="tr-TR" sz="3600" dirty="0"/>
              <a:t> </a:t>
            </a:r>
            <a:r>
              <a:rPr lang="tr-TR" sz="3600" dirty="0" err="1"/>
              <a:t>implementation</a:t>
            </a:r>
            <a:r>
              <a:rPr lang="tr-TR" sz="3600" dirty="0"/>
              <a:t> (</a:t>
            </a:r>
            <a:r>
              <a:rPr lang="tr-TR" sz="3600" dirty="0" err="1">
                <a:hlinkClick r:id="rId3"/>
              </a:rPr>
              <a:t>github</a:t>
            </a:r>
            <a:r>
              <a:rPr lang="tr-TR" sz="3600" dirty="0">
                <a:hlinkClick r:id="rId3"/>
              </a:rPr>
              <a:t> link</a:t>
            </a:r>
            <a:r>
              <a:rPr lang="tr-TR" sz="3600" dirty="0"/>
              <a:t>).</a:t>
            </a:r>
            <a:endParaRPr lang="en-US" sz="3600" dirty="0"/>
          </a:p>
          <a:p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75AAAA-1A12-4380-B486-EBDE6DC7F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47" y="1609024"/>
            <a:ext cx="4459254" cy="1826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B15EB5-250C-48E3-AB85-8B842B49D0C2}"/>
              </a:ext>
            </a:extLst>
          </p:cNvPr>
          <p:cNvSpPr txBox="1"/>
          <p:nvPr/>
        </p:nvSpPr>
        <p:spPr>
          <a:xfrm>
            <a:off x="61328" y="3410111"/>
            <a:ext cx="5073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Figure 3</a:t>
            </a:r>
            <a:r>
              <a:rPr lang="en-US" sz="2000" dirty="0"/>
              <a:t>: Visualization of predicted vs optimal paths</a:t>
            </a:r>
            <a:endParaRPr lang="tr-TR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FBDF55-515F-4581-86BD-8BC544E41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417" y="1682037"/>
            <a:ext cx="6361980" cy="16303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06D720-1D50-4FD7-A2E9-B63204B8069F}"/>
              </a:ext>
            </a:extLst>
          </p:cNvPr>
          <p:cNvSpPr txBox="1"/>
          <p:nvPr/>
        </p:nvSpPr>
        <p:spPr>
          <a:xfrm>
            <a:off x="5602351" y="3340677"/>
            <a:ext cx="6407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/>
              <a:t>Table</a:t>
            </a:r>
            <a:r>
              <a:rPr lang="tr-TR" sz="2000" b="1" dirty="0"/>
              <a:t> 1</a:t>
            </a:r>
            <a:r>
              <a:rPr lang="tr-TR" sz="2000" dirty="0"/>
              <a:t>: </a:t>
            </a:r>
            <a:r>
              <a:rPr lang="tr-TR" sz="2000" dirty="0" err="1"/>
              <a:t>Quantitative</a:t>
            </a:r>
            <a:r>
              <a:rPr lang="tr-TR" sz="2000" dirty="0"/>
              <a:t> </a:t>
            </a:r>
            <a:r>
              <a:rPr lang="tr-TR" sz="2000" dirty="0" err="1"/>
              <a:t>performance</a:t>
            </a:r>
            <a:r>
              <a:rPr lang="tr-TR" sz="2000" dirty="0"/>
              <a:t> </a:t>
            </a:r>
            <a:r>
              <a:rPr lang="tr-TR" sz="2000" dirty="0" err="1"/>
              <a:t>comparison</a:t>
            </a:r>
            <a:endParaRPr lang="tr-TR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E74F4-ADD3-4BA5-AAB4-37434ACC8BF1}"/>
              </a:ext>
            </a:extLst>
          </p:cNvPr>
          <p:cNvSpPr txBox="1"/>
          <p:nvPr/>
        </p:nvSpPr>
        <p:spPr>
          <a:xfrm>
            <a:off x="414822" y="3900200"/>
            <a:ext cx="43364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Shows qualitative comparison between: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optimal path (ground truth)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VIN predicted path</a:t>
            </a:r>
          </a:p>
          <a:p>
            <a:r>
              <a:rPr lang="en-US" sz="2200" dirty="0"/>
              <a:t>→ verifies that VIN learns meaningful planning behavior</a:t>
            </a:r>
          </a:p>
          <a:p>
            <a:endParaRPr lang="tr-T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2633DF-66E1-4C63-9E46-522C64E10C55}"/>
              </a:ext>
            </a:extLst>
          </p:cNvPr>
          <p:cNvSpPr/>
          <p:nvPr/>
        </p:nvSpPr>
        <p:spPr>
          <a:xfrm>
            <a:off x="6294278" y="3900200"/>
            <a:ext cx="313897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200" dirty="0" err="1"/>
              <a:t>Reports</a:t>
            </a:r>
            <a:r>
              <a:rPr lang="tr-TR" sz="2200" dirty="0"/>
              <a:t> </a:t>
            </a:r>
            <a:r>
              <a:rPr lang="tr-TR" sz="2200" dirty="0" err="1"/>
              <a:t>quantitative</a:t>
            </a:r>
            <a:r>
              <a:rPr lang="tr-TR" sz="2200" dirty="0"/>
              <a:t> </a:t>
            </a:r>
            <a:r>
              <a:rPr lang="tr-TR" sz="2200" dirty="0" err="1"/>
              <a:t>metrics</a:t>
            </a:r>
            <a:r>
              <a:rPr lang="tr-TR" sz="2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200" dirty="0"/>
              <a:t> </a:t>
            </a:r>
            <a:r>
              <a:rPr lang="tr-TR" sz="2200" dirty="0" err="1"/>
              <a:t>success</a:t>
            </a:r>
            <a:r>
              <a:rPr lang="tr-TR" sz="2200" dirty="0"/>
              <a:t>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200" dirty="0"/>
              <a:t> </a:t>
            </a:r>
            <a:r>
              <a:rPr lang="tr-TR" sz="2200" dirty="0" err="1"/>
              <a:t>path</a:t>
            </a:r>
            <a:r>
              <a:rPr lang="tr-TR" sz="2200" dirty="0"/>
              <a:t> </a:t>
            </a:r>
            <a:r>
              <a:rPr lang="tr-TR" sz="2200" dirty="0" err="1"/>
              <a:t>optimality</a:t>
            </a:r>
            <a:endParaRPr lang="tr-TR" sz="2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1859E2-6B49-458D-9DF7-EEC1FF94CE13}"/>
              </a:ext>
            </a:extLst>
          </p:cNvPr>
          <p:cNvSpPr/>
          <p:nvPr/>
        </p:nvSpPr>
        <p:spPr>
          <a:xfrm>
            <a:off x="674721" y="6011418"/>
            <a:ext cx="11239113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chemeClr val="accent1"/>
                </a:solidFill>
              </a:rPr>
              <a:t>These results will serve as the baseline for evaluating the generalization and robustness experiments.</a:t>
            </a:r>
            <a:endParaRPr lang="tr-TR" sz="23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38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DE87-EE85-4AF7-92E4-6856372E1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21434"/>
            <a:ext cx="9906000" cy="1382156"/>
          </a:xfrm>
        </p:spPr>
        <p:txBody>
          <a:bodyPr/>
          <a:lstStyle/>
          <a:p>
            <a:r>
              <a:rPr lang="tr-TR" dirty="0" err="1">
                <a:latin typeface="Abadi" panose="020B0604020104020204" pitchFamily="34" charset="0"/>
              </a:rPr>
              <a:t>Implementatıon</a:t>
            </a:r>
            <a:r>
              <a:rPr lang="tr-TR" dirty="0">
                <a:latin typeface="Abadi" panose="020B0604020104020204" pitchFamily="34" charset="0"/>
              </a:rPr>
              <a:t> </a:t>
            </a:r>
            <a:r>
              <a:rPr lang="tr-TR" dirty="0" err="1">
                <a:latin typeface="Abadi" panose="020B0604020104020204" pitchFamily="34" charset="0"/>
              </a:rPr>
              <a:t>Issues</a:t>
            </a:r>
            <a:r>
              <a:rPr lang="tr-TR" dirty="0">
                <a:latin typeface="Abadi" panose="020B0604020104020204" pitchFamily="34" charset="0"/>
              </a:rPr>
              <a:t> </a:t>
            </a:r>
            <a:r>
              <a:rPr lang="tr-TR" dirty="0" err="1">
                <a:latin typeface="Abadi" panose="020B0604020104020204" pitchFamily="34" charset="0"/>
              </a:rPr>
              <a:t>Encountered</a:t>
            </a:r>
            <a:r>
              <a:rPr lang="tr-TR" dirty="0">
                <a:latin typeface="Abadi" panose="020B0604020104020204" pitchFamily="34" charset="0"/>
              </a:rPr>
              <a:t> &amp; </a:t>
            </a:r>
            <a:r>
              <a:rPr lang="tr-TR" dirty="0" err="1">
                <a:latin typeface="Abadi" panose="020B0604020104020204" pitchFamily="34" charset="0"/>
              </a:rPr>
              <a:t>fıxed</a:t>
            </a:r>
            <a:endParaRPr lang="tr-TR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FA69-6DDC-4675-A7D3-4907C62F8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066" y="1915557"/>
            <a:ext cx="9906000" cy="4024424"/>
          </a:xfrm>
        </p:spPr>
        <p:txBody>
          <a:bodyPr/>
          <a:lstStyle/>
          <a:p>
            <a:r>
              <a:rPr lang="en-US" b="1" dirty="0"/>
              <a:t>Coordinate system inconsistency</a:t>
            </a:r>
            <a:br>
              <a:rPr lang="en-US" dirty="0"/>
            </a:br>
            <a:r>
              <a:rPr lang="en-US" dirty="0"/>
              <a:t>Row–column mismatch in grid representation caused incorrect movement directions</a:t>
            </a:r>
          </a:p>
          <a:p>
            <a:r>
              <a:rPr lang="en-US" dirty="0"/>
              <a:t> </a:t>
            </a:r>
            <a:r>
              <a:rPr lang="en-US" b="1" dirty="0"/>
              <a:t>Path generation failure</a:t>
            </a:r>
            <a:br>
              <a:rPr lang="en-US" dirty="0"/>
            </a:br>
            <a:r>
              <a:rPr lang="en-US" dirty="0"/>
              <a:t>Incorrect data structure in shortest-path tracing resulted in empty trajectories</a:t>
            </a:r>
          </a:p>
          <a:p>
            <a:r>
              <a:rPr lang="en-US" dirty="0"/>
              <a:t> </a:t>
            </a:r>
            <a:r>
              <a:rPr lang="en-US" b="1" dirty="0"/>
              <a:t>Dataset inconsistency</a:t>
            </a:r>
            <a:br>
              <a:rPr lang="en-US" dirty="0"/>
            </a:br>
            <a:r>
              <a:rPr lang="en-US" dirty="0"/>
              <a:t>Initial dataset contained invalid trajectories due to environment bugs and had to be regenerated</a:t>
            </a:r>
          </a:p>
          <a:p>
            <a:r>
              <a:rPr lang="en-US" b="1" dirty="0"/>
              <a:t>Input formatting issues</a:t>
            </a:r>
            <a:br>
              <a:rPr lang="en-US" dirty="0"/>
            </a:br>
            <a:r>
              <a:rPr lang="en-US" dirty="0"/>
              <a:t>State inputs were not properly converted to tensors, causing malformed model inputs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53461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DB98-7A44-4A62-BC4F-C3E48D611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12" y="132944"/>
            <a:ext cx="5015204" cy="818778"/>
          </a:xfrm>
        </p:spPr>
        <p:txBody>
          <a:bodyPr/>
          <a:lstStyle/>
          <a:p>
            <a:r>
              <a:rPr lang="tr-TR" dirty="0" err="1">
                <a:latin typeface="Abadi" panose="020B0604020104020204" pitchFamily="34" charset="0"/>
              </a:rPr>
              <a:t>Extensıon</a:t>
            </a:r>
            <a:r>
              <a:rPr lang="tr-TR" dirty="0">
                <a:latin typeface="Abadi" panose="020B0604020104020204" pitchFamily="34" charset="0"/>
              </a:rPr>
              <a:t>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0067B-9BE2-46FB-8FBB-23269B27D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412" y="951721"/>
            <a:ext cx="10924592" cy="5551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I </a:t>
            </a:r>
            <a:r>
              <a:rPr lang="tr-TR" dirty="0" err="1"/>
              <a:t>will</a:t>
            </a:r>
            <a:r>
              <a:rPr lang="en-US" dirty="0"/>
              <a:t> extend the original experiments by evaluating VIN under </a:t>
            </a:r>
            <a:r>
              <a:rPr lang="en-US" b="1" dirty="0">
                <a:solidFill>
                  <a:schemeClr val="accent1"/>
                </a:solidFill>
              </a:rPr>
              <a:t>out-of-distribution environments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/>
              <a:t>Two variables will be modified:</a:t>
            </a:r>
          </a:p>
          <a:p>
            <a:pPr lvl="1"/>
            <a:r>
              <a:rPr lang="en-US" sz="2200" dirty="0"/>
              <a:t>Map size</a:t>
            </a:r>
          </a:p>
          <a:p>
            <a:pPr lvl="1"/>
            <a:r>
              <a:rPr lang="en-US" sz="2200" dirty="0"/>
              <a:t>Obstacle density</a:t>
            </a:r>
            <a:endParaRPr lang="tr-TR" sz="2200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tr-TR" b="1" dirty="0" err="1">
                <a:solidFill>
                  <a:schemeClr val="accent1"/>
                </a:solidFill>
              </a:rPr>
              <a:t>Generalization</a:t>
            </a:r>
            <a:r>
              <a:rPr lang="tr-TR" dirty="0"/>
              <a:t>: Training </a:t>
            </a:r>
            <a:r>
              <a:rPr lang="tr-TR" dirty="0" err="1"/>
              <a:t>will</a:t>
            </a:r>
            <a:r>
              <a:rPr lang="tr-TR" dirty="0"/>
              <a:t> be done at 8 × 8 </a:t>
            </a:r>
            <a:r>
              <a:rPr lang="tr-TR" dirty="0" err="1"/>
              <a:t>maps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testing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be on 12 × 12 </a:t>
            </a:r>
            <a:r>
              <a:rPr lang="tr-TR" dirty="0" err="1"/>
              <a:t>and</a:t>
            </a:r>
            <a:r>
              <a:rPr lang="tr-TR" dirty="0"/>
              <a:t> 16 × 16 </a:t>
            </a:r>
            <a:r>
              <a:rPr lang="tr-TR" dirty="0" err="1"/>
              <a:t>maps</a:t>
            </a:r>
            <a:r>
              <a:rPr lang="tr-TR" dirty="0"/>
              <a:t>.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way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en-US" dirty="0"/>
              <a:t>scalability of the learned planning mod</a:t>
            </a:r>
            <a:r>
              <a:rPr lang="tr-TR" dirty="0"/>
              <a:t>u</a:t>
            </a:r>
            <a:r>
              <a:rPr lang="en-US" dirty="0"/>
              <a:t>le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be </a:t>
            </a:r>
            <a:r>
              <a:rPr lang="tr-TR" dirty="0" err="1"/>
              <a:t>evaluated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b="1" dirty="0" err="1">
                <a:solidFill>
                  <a:schemeClr val="accent1"/>
                </a:solidFill>
              </a:rPr>
              <a:t>Robustness</a:t>
            </a:r>
            <a:r>
              <a:rPr lang="tr-TR" b="1" dirty="0">
                <a:solidFill>
                  <a:schemeClr val="accent1"/>
                </a:solidFill>
              </a:rPr>
              <a:t>: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trained</a:t>
            </a:r>
            <a:r>
              <a:rPr lang="tr-TR" dirty="0"/>
              <a:t> model </a:t>
            </a:r>
            <a:r>
              <a:rPr lang="tr-TR" dirty="0" err="1"/>
              <a:t>will</a:t>
            </a:r>
            <a:r>
              <a:rPr lang="tr-TR" dirty="0"/>
              <a:t> be </a:t>
            </a:r>
            <a:r>
              <a:rPr lang="tr-TR" dirty="0" err="1"/>
              <a:t>tested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maps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increasing</a:t>
            </a:r>
            <a:r>
              <a:rPr lang="tr-TR" dirty="0"/>
              <a:t> </a:t>
            </a:r>
            <a:r>
              <a:rPr lang="tr-TR" dirty="0" err="1"/>
              <a:t>density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tr-TR" b="1" dirty="0" err="1">
                <a:solidFill>
                  <a:schemeClr val="accent1"/>
                </a:solidFill>
              </a:rPr>
              <a:t>Metrics</a:t>
            </a:r>
            <a:r>
              <a:rPr lang="tr-TR" b="1" dirty="0">
                <a:solidFill>
                  <a:schemeClr val="accent1"/>
                </a:solidFill>
              </a:rPr>
              <a:t>: </a:t>
            </a:r>
            <a:r>
              <a:rPr lang="en-US" dirty="0"/>
              <a:t>To ensure comparability with the original paper, </a:t>
            </a:r>
            <a:r>
              <a:rPr lang="tr-TR" dirty="0" err="1"/>
              <a:t>metrics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be</a:t>
            </a:r>
            <a:r>
              <a:rPr lang="en-US" dirty="0"/>
              <a:t>:</a:t>
            </a:r>
            <a:r>
              <a:rPr lang="tr-TR" dirty="0"/>
              <a:t> </a:t>
            </a:r>
            <a:r>
              <a:rPr lang="en-US" dirty="0"/>
              <a:t> Success rate</a:t>
            </a:r>
            <a:r>
              <a:rPr lang="tr-TR" dirty="0"/>
              <a:t>, A</a:t>
            </a:r>
            <a:r>
              <a:rPr lang="en-US" dirty="0" err="1"/>
              <a:t>verage</a:t>
            </a:r>
            <a:r>
              <a:rPr lang="en-US" dirty="0"/>
              <a:t> path length</a:t>
            </a:r>
            <a:r>
              <a:rPr lang="tr-TR" dirty="0"/>
              <a:t>, </a:t>
            </a:r>
            <a:r>
              <a:rPr lang="en-US" dirty="0"/>
              <a:t>Optimality ratio relative to shortest path</a:t>
            </a:r>
            <a:r>
              <a:rPr lang="tr-TR" dirty="0"/>
              <a:t>. </a:t>
            </a:r>
            <a:r>
              <a:rPr lang="en-US" dirty="0"/>
              <a:t>These metrics allow </a:t>
            </a:r>
            <a:r>
              <a:rPr lang="en-US" b="1" dirty="0"/>
              <a:t>direct comparison with the reproduced baseline results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05720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5BBE915-79F0-6A09-325A-C8D6C596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76" y="416956"/>
            <a:ext cx="2599585" cy="1122595"/>
          </a:xfrm>
        </p:spPr>
        <p:txBody>
          <a:bodyPr anchor="t">
            <a:noAutofit/>
          </a:bodyPr>
          <a:lstStyle/>
          <a:p>
            <a:r>
              <a:rPr lang="tr-TR" sz="3200" dirty="0" err="1">
                <a:latin typeface="Abadi" panose="020B0604020104020204" pitchFamily="34" charset="0"/>
              </a:rPr>
              <a:t>Expected</a:t>
            </a:r>
            <a:r>
              <a:rPr lang="tr-TR" sz="3200" dirty="0">
                <a:latin typeface="Abadi" panose="020B0604020104020204" pitchFamily="34" charset="0"/>
              </a:rPr>
              <a:t> </a:t>
            </a:r>
            <a:r>
              <a:rPr lang="tr-TR" sz="3200" dirty="0" err="1">
                <a:latin typeface="Abadi" panose="020B0604020104020204" pitchFamily="34" charset="0"/>
              </a:rPr>
              <a:t>Insıghts</a:t>
            </a:r>
            <a:endParaRPr lang="tr-TR" sz="3000" dirty="0">
              <a:latin typeface="Abadi" panose="020B0604020104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39456B-0913-9181-D6EE-70C2D23F5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8596" y="533401"/>
            <a:ext cx="9093428" cy="5419530"/>
          </a:xfrm>
        </p:spPr>
        <p:txBody>
          <a:bodyPr anchor="ctr">
            <a:normAutofit/>
          </a:bodyPr>
          <a:lstStyle/>
          <a:p>
            <a:r>
              <a:rPr lang="en-US" sz="3200" dirty="0"/>
              <a:t>We expect to observe:</a:t>
            </a:r>
          </a:p>
          <a:p>
            <a:pPr lvl="1"/>
            <a:r>
              <a:rPr lang="en-US" sz="3200" dirty="0"/>
              <a:t> decreasing success rate as map size increases</a:t>
            </a:r>
            <a:endParaRPr lang="tr-TR" sz="3200" dirty="0"/>
          </a:p>
          <a:p>
            <a:pPr lvl="1"/>
            <a:r>
              <a:rPr lang="en-US" sz="3200" dirty="0"/>
              <a:t>reduced planning performance with higher obstacle density</a:t>
            </a:r>
            <a:br>
              <a:rPr lang="en-US" sz="2800" dirty="0"/>
            </a:b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This will help determine whether VIN truly learns a </a:t>
            </a:r>
            <a:r>
              <a:rPr lang="en-US" sz="3200" b="1" dirty="0">
                <a:solidFill>
                  <a:schemeClr val="accent1"/>
                </a:solidFill>
              </a:rPr>
              <a:t>generalizable planning procedure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pPr marL="0" indent="0">
              <a:buNone/>
            </a:pP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4149030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00C9-B5E0-44EC-8DD3-41E9B110B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81474"/>
            <a:ext cx="4100804" cy="828869"/>
          </a:xfrm>
        </p:spPr>
        <p:txBody>
          <a:bodyPr/>
          <a:lstStyle/>
          <a:p>
            <a:r>
              <a:rPr lang="tr-TR" dirty="0" err="1">
                <a:latin typeface="Abadi" panose="020B0604020104020204" pitchFamily="34" charset="0"/>
              </a:rPr>
              <a:t>Referances</a:t>
            </a:r>
            <a:endParaRPr lang="tr-TR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398DC-2FF0-494F-9F47-A39BB8567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698" y="1492898"/>
            <a:ext cx="10013302" cy="4541080"/>
          </a:xfrm>
        </p:spPr>
        <p:txBody>
          <a:bodyPr/>
          <a:lstStyle/>
          <a:p>
            <a:r>
              <a:rPr lang="tr-TR" dirty="0"/>
              <a:t>Tamar, A., </a:t>
            </a:r>
            <a:r>
              <a:rPr lang="tr-TR" dirty="0" err="1"/>
              <a:t>Wu</a:t>
            </a:r>
            <a:r>
              <a:rPr lang="tr-TR" dirty="0"/>
              <a:t>, Y., Thomas, G., </a:t>
            </a:r>
            <a:r>
              <a:rPr lang="tr-TR" dirty="0" err="1"/>
              <a:t>Levine</a:t>
            </a:r>
            <a:r>
              <a:rPr lang="tr-TR" dirty="0"/>
              <a:t>, S., &amp; </a:t>
            </a:r>
            <a:r>
              <a:rPr lang="tr-TR" dirty="0" err="1"/>
              <a:t>Abbeel</a:t>
            </a:r>
            <a:r>
              <a:rPr lang="tr-TR" dirty="0"/>
              <a:t>, P. (2016).</a:t>
            </a:r>
            <a:br>
              <a:rPr lang="tr-TR" dirty="0"/>
            </a:br>
            <a:r>
              <a:rPr lang="tr-TR" dirty="0"/>
              <a:t>Value </a:t>
            </a:r>
            <a:r>
              <a:rPr lang="tr-TR" dirty="0" err="1"/>
              <a:t>Iteration</a:t>
            </a:r>
            <a:r>
              <a:rPr lang="tr-TR" dirty="0"/>
              <a:t> Networks. </a:t>
            </a:r>
            <a:r>
              <a:rPr lang="tr-TR" dirty="0" err="1"/>
              <a:t>NeurIPS</a:t>
            </a:r>
            <a:r>
              <a:rPr lang="tr-TR" dirty="0"/>
              <a:t>.</a:t>
            </a:r>
          </a:p>
          <a:p>
            <a:r>
              <a:rPr lang="en-US" dirty="0" err="1"/>
              <a:t>Mnih</a:t>
            </a:r>
            <a:r>
              <a:rPr lang="en-US" dirty="0"/>
              <a:t>, V. et al. (2015).</a:t>
            </a:r>
            <a:br>
              <a:rPr lang="en-US" dirty="0"/>
            </a:br>
            <a:r>
              <a:rPr lang="en-US" dirty="0"/>
              <a:t>Human-level control through deep reinforcement learning. Nature.</a:t>
            </a:r>
            <a:endParaRPr lang="tr-TR" dirty="0"/>
          </a:p>
          <a:p>
            <a:r>
              <a:rPr lang="en-US" dirty="0"/>
              <a:t>Lee, L. et al. (2018).</a:t>
            </a:r>
            <a:br>
              <a:rPr lang="en-US" dirty="0"/>
            </a:br>
            <a:r>
              <a:rPr lang="en-US" dirty="0"/>
              <a:t>Gated Path Planning Networks. ICML.</a:t>
            </a:r>
            <a:endParaRPr lang="tr-TR" dirty="0"/>
          </a:p>
          <a:p>
            <a:r>
              <a:rPr lang="tr-TR" dirty="0" err="1"/>
              <a:t>Bellman</a:t>
            </a:r>
            <a:r>
              <a:rPr lang="tr-TR" dirty="0"/>
              <a:t>, R. (1957).</a:t>
            </a:r>
            <a:br>
              <a:rPr lang="tr-TR" dirty="0"/>
            </a:br>
            <a:r>
              <a:rPr lang="tr-TR" dirty="0"/>
              <a:t>A </a:t>
            </a:r>
            <a:r>
              <a:rPr lang="tr-TR" dirty="0" err="1"/>
              <a:t>Markovian</a:t>
            </a:r>
            <a:r>
              <a:rPr lang="tr-TR" dirty="0"/>
              <a:t> </a:t>
            </a:r>
            <a:r>
              <a:rPr lang="tr-TR" dirty="0" err="1"/>
              <a:t>Decision</a:t>
            </a:r>
            <a:r>
              <a:rPr lang="tr-TR" dirty="0"/>
              <a:t> </a:t>
            </a:r>
            <a:r>
              <a:rPr lang="tr-TR" dirty="0" err="1"/>
              <a:t>Process</a:t>
            </a:r>
            <a:r>
              <a:rPr lang="tr-TR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28595668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Açılı çizgiler</Template>
  <TotalTime>2983</TotalTime>
  <Words>1488</Words>
  <Application>Microsoft Office PowerPoint</Application>
  <PresentationFormat>Widescreen</PresentationFormat>
  <Paragraphs>102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Abadi</vt:lpstr>
      <vt:lpstr>Arial</vt:lpstr>
      <vt:lpstr>Calibri</vt:lpstr>
      <vt:lpstr>Univers Condensed Light</vt:lpstr>
      <vt:lpstr>Walbaum Display Light</vt:lpstr>
      <vt:lpstr>AngleLinesVTI</vt:lpstr>
      <vt:lpstr>Generalization and Robustness Evaluation of Value Iteration Networks for PATH Planning</vt:lpstr>
      <vt:lpstr>CONTENTS</vt:lpstr>
      <vt:lpstr>Selected Paper - Value ıteratıon networks</vt:lpstr>
      <vt:lpstr> CORE CONTRIBUTION        RELEVANCE</vt:lpstr>
      <vt:lpstr>PowerPoint Presentation</vt:lpstr>
      <vt:lpstr>Related Work</vt:lpstr>
      <vt:lpstr>Project dırectıon – generalızatıon &amp; robustness evaluatıon</vt:lpstr>
      <vt:lpstr>PowerPoint Presentation</vt:lpstr>
      <vt:lpstr>Reproductıon</vt:lpstr>
      <vt:lpstr>Implementatıon Issues Encountered &amp; fıxed</vt:lpstr>
      <vt:lpstr>Extensıon plan</vt:lpstr>
      <vt:lpstr>Expected Insıghts</vt:lpstr>
      <vt:lpstr>Referances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Generalization and Robustness Evaluation of Value Iteration Networks for PATH Planning</dc:title>
  <dc:creator>GOZDE KORPE</dc:creator>
  <cp:lastModifiedBy>MENESADANUR</cp:lastModifiedBy>
  <cp:revision>17</cp:revision>
  <dcterms:created xsi:type="dcterms:W3CDTF">2026-03-15T15:18:52Z</dcterms:created>
  <dcterms:modified xsi:type="dcterms:W3CDTF">2026-03-26T08:13:58Z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972d31d2-3a37-4dba-acb3-d0baedb7d2f8</vt:lpwstr>
  </property>
</Properties>
</file>